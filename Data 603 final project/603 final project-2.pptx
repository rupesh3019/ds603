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71" r:id="rId5"/>
    <p:sldId id="291" r:id="rId6"/>
    <p:sldId id="259" r:id="rId7"/>
    <p:sldId id="272" r:id="rId8"/>
    <p:sldId id="283" r:id="rId9"/>
    <p:sldId id="305" r:id="rId10"/>
    <p:sldId id="286" r:id="rId11"/>
    <p:sldId id="287" r:id="rId12"/>
    <p:sldId id="306" r:id="rId13"/>
    <p:sldId id="293" r:id="rId14"/>
    <p:sldId id="285" r:id="rId15"/>
    <p:sldId id="284" r:id="rId16"/>
    <p:sldId id="277" r:id="rId17"/>
    <p:sldId id="292" r:id="rId18"/>
  </p:sldIdLst>
  <p:sldSz cx="9144000" cy="5143500" type="screen16x9"/>
  <p:notesSz cx="6858000" cy="9144000"/>
  <p:embeddedFontLst>
    <p:embeddedFont>
      <p:font typeface="Roboto Black" panose="02000000000000000000"/>
      <p:bold r:id="rId22"/>
    </p:embeddedFont>
    <p:embeddedFont>
      <p:font typeface="Roboto" panose="02000000000000000000"/>
      <p:regular r:id="rId23"/>
      <p:bold r:id="rId24"/>
      <p:italic r:id="rId25"/>
      <p:boldItalic r:id="rId26"/>
    </p:embeddedFont>
    <p:embeddedFont>
      <p:font typeface="Calibri" panose="020F0502020204030204"/>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64" userDrawn="1">
          <p15:clr>
            <a:srgbClr val="A4A3A4"/>
          </p15:clr>
        </p15:guide>
        <p15:guide id="2" pos="28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p:restoredTop sz="94679"/>
  </p:normalViewPr>
  <p:slideViewPr>
    <p:cSldViewPr snapToGrid="0" showGuides="1">
      <p:cViewPr varScale="1">
        <p:scale>
          <a:sx n="139" d="100"/>
          <a:sy n="139" d="100"/>
        </p:scale>
        <p:origin x="840" y="168"/>
      </p:cViewPr>
      <p:guideLst>
        <p:guide orient="horz" pos="1564"/>
        <p:guide pos="283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
        <p:cNvGrpSpPr/>
        <p:nvPr/>
      </p:nvGrpSpPr>
      <p:grpSpPr>
        <a:xfrm>
          <a:off x="0" y="0"/>
          <a:ext cx="0" cy="0"/>
          <a:chOff x="0" y="0"/>
          <a:chExt cx="0" cy="0"/>
        </a:xfrm>
      </p:grpSpPr>
      <p:sp>
        <p:nvSpPr>
          <p:cNvPr id="68" name="Google Shape;68;g23c5886da1a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3c5886da1a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0"/>
        <p:cNvGrpSpPr/>
        <p:nvPr/>
      </p:nvGrpSpPr>
      <p:grpSpPr>
        <a:xfrm>
          <a:off x="0" y="0"/>
          <a:ext cx="0" cy="0"/>
          <a:chOff x="0" y="0"/>
          <a:chExt cx="0" cy="0"/>
        </a:xfrm>
      </p:grpSpPr>
      <p:sp>
        <p:nvSpPr>
          <p:cNvPr id="91" name="Google Shape;91;g23c5dab0bb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3c5dab0bb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11700" y="64975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a:spLocks noGrp="1"/>
          </p:cNvSpPr>
          <p:nvPr>
            <p:ph type="body" idx="1"/>
          </p:nvPr>
        </p:nvSpPr>
        <p:spPr>
          <a:xfrm>
            <a:off x="311700" y="1222450"/>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64975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649750"/>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1" name="Google Shape;41;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p:txBody>
      </p:sp>
      <p:sp>
        <p:nvSpPr>
          <p:cNvPr id="46" name="Google Shape;4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 name="Google Shape;49;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p:txBody>
      </p:sp>
      <p:sp>
        <p:nvSpPr>
          <p:cNvPr id="50" name="Google Shape;5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1"/>
        <p:cNvGrpSpPr/>
        <p:nvPr/>
      </p:nvGrpSpPr>
      <p:grpSpPr>
        <a:xfrm>
          <a:off x="0" y="0"/>
          <a:ext cx="0" cy="0"/>
          <a:chOff x="0" y="0"/>
          <a:chExt cx="0" cy="0"/>
        </a:xfrm>
      </p:grpSpPr>
      <p:sp>
        <p:nvSpPr>
          <p:cNvPr id="52" name="Google Shape;52;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53"/>
        <p:cNvGrpSpPr/>
        <p:nvPr/>
      </p:nvGrpSpPr>
      <p:grpSpPr>
        <a:xfrm>
          <a:off x="0" y="0"/>
          <a:ext cx="0" cy="0"/>
          <a:chOff x="0" y="0"/>
          <a:chExt cx="0" cy="0"/>
        </a:xfrm>
      </p:grpSpPr>
      <p:sp>
        <p:nvSpPr>
          <p:cNvPr id="54" name="Google Shape;54;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pic>
        <p:nvPicPr>
          <p:cNvPr id="55" name="Google Shape;55;p13"/>
          <p:cNvPicPr preferRelativeResize="0"/>
          <p:nvPr/>
        </p:nvPicPr>
        <p:blipFill>
          <a:blip r:embed="rId2"/>
          <a:stretch>
            <a:fillRect/>
          </a:stretch>
        </p:blipFill>
        <p:spPr>
          <a:xfrm>
            <a:off x="0" y="0"/>
            <a:ext cx="9144000" cy="5143500"/>
          </a:xfrm>
          <a:prstGeom prst="rect">
            <a:avLst/>
          </a:prstGeom>
          <a:noFill/>
          <a:ln>
            <a:noFill/>
          </a:ln>
        </p:spPr>
      </p:pic>
      <p:pic>
        <p:nvPicPr>
          <p:cNvPr id="56" name="Google Shape;56;p13"/>
          <p:cNvPicPr preferRelativeResize="0"/>
          <p:nvPr/>
        </p:nvPicPr>
        <p:blipFill rotWithShape="1">
          <a:blip r:embed="rId3"/>
          <a:srcRect t="30619" b="30976"/>
          <a:stretch>
            <a:fillRect/>
          </a:stretch>
        </p:blipFill>
        <p:spPr>
          <a:xfrm>
            <a:off x="29900" y="1971804"/>
            <a:ext cx="3406871" cy="1011000"/>
          </a:xfrm>
          <a:prstGeom prst="rect">
            <a:avLst/>
          </a:prstGeom>
          <a:noFill/>
          <a:ln>
            <a:noFill/>
          </a:ln>
        </p:spPr>
      </p:pic>
      <p:sp>
        <p:nvSpPr>
          <p:cNvPr id="57" name="Google Shape;57;p13"/>
          <p:cNvSpPr txBox="1"/>
          <p:nvPr/>
        </p:nvSpPr>
        <p:spPr>
          <a:xfrm>
            <a:off x="4257625" y="2077900"/>
            <a:ext cx="4574400" cy="41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400" i="1">
                <a:solidFill>
                  <a:srgbClr val="FFFFFF"/>
                </a:solidFill>
                <a:latin typeface="Roboto Black" panose="02000000000000000000"/>
                <a:ea typeface="Roboto Black" panose="02000000000000000000"/>
                <a:cs typeface="Roboto Black" panose="02000000000000000000"/>
                <a:sym typeface="Roboto Black" panose="02000000000000000000"/>
              </a:rPr>
              <a:t>NAME OF YOUR EVENT </a:t>
            </a:r>
            <a:endParaRPr sz="2400">
              <a:latin typeface="Roboto" panose="02000000000000000000"/>
              <a:ea typeface="Roboto" panose="02000000000000000000"/>
              <a:cs typeface="Roboto" panose="02000000000000000000"/>
              <a:sym typeface="Roboto" panose="02000000000000000000"/>
            </a:endParaRPr>
          </a:p>
        </p:txBody>
      </p:sp>
      <p:sp>
        <p:nvSpPr>
          <p:cNvPr id="58" name="Google Shape;58;p13"/>
          <p:cNvSpPr txBox="1"/>
          <p:nvPr/>
        </p:nvSpPr>
        <p:spPr>
          <a:xfrm>
            <a:off x="4223350" y="2431225"/>
            <a:ext cx="4574400" cy="39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a:solidFill>
                  <a:schemeClr val="dk1"/>
                </a:solidFill>
                <a:latin typeface="Roboto" panose="02000000000000000000"/>
                <a:ea typeface="Roboto" panose="02000000000000000000"/>
                <a:cs typeface="Roboto" panose="02000000000000000000"/>
                <a:sym typeface="Roboto" panose="02000000000000000000"/>
              </a:rPr>
              <a:t>DATE OF YOUR EVENT</a:t>
            </a:r>
            <a:endParaRPr sz="2100">
              <a:latin typeface="Roboto" panose="02000000000000000000"/>
              <a:ea typeface="Roboto" panose="02000000000000000000"/>
              <a:cs typeface="Roboto" panose="02000000000000000000"/>
              <a:sym typeface="Roboto" panose="0200000000000000000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Header &amp; Footer Split">
  <p:cSld name="TITLE_AND_BODY_1">
    <p:spTree>
      <p:nvGrpSpPr>
        <p:cNvPr id="1" name="Shape 59"/>
        <p:cNvGrpSpPr/>
        <p:nvPr/>
      </p:nvGrpSpPr>
      <p:grpSpPr>
        <a:xfrm>
          <a:off x="0" y="0"/>
          <a:ext cx="0" cy="0"/>
          <a:chOff x="0" y="0"/>
          <a:chExt cx="0" cy="0"/>
        </a:xfrm>
      </p:grpSpPr>
      <p:pic>
        <p:nvPicPr>
          <p:cNvPr id="60" name="Google Shape;60;p14"/>
          <p:cNvPicPr preferRelativeResize="0"/>
          <p:nvPr/>
        </p:nvPicPr>
        <p:blipFill>
          <a:blip r:embed="rId2"/>
          <a:stretch>
            <a:fillRect/>
          </a:stretch>
        </p:blipFill>
        <p:spPr>
          <a:xfrm>
            <a:off x="0" y="0"/>
            <a:ext cx="9144000" cy="5143500"/>
          </a:xfrm>
          <a:prstGeom prst="rect">
            <a:avLst/>
          </a:prstGeom>
          <a:noFill/>
          <a:ln>
            <a:noFill/>
          </a:ln>
        </p:spPr>
      </p:pic>
      <p:pic>
        <p:nvPicPr>
          <p:cNvPr id="61" name="Google Shape;61;p14"/>
          <p:cNvPicPr preferRelativeResize="0"/>
          <p:nvPr/>
        </p:nvPicPr>
        <p:blipFill rotWithShape="1">
          <a:blip r:embed="rId3"/>
          <a:srcRect t="30619" b="30976"/>
          <a:stretch>
            <a:fillRect/>
          </a:stretch>
        </p:blipFill>
        <p:spPr>
          <a:xfrm>
            <a:off x="76150" y="48625"/>
            <a:ext cx="2882025" cy="855250"/>
          </a:xfrm>
          <a:prstGeom prst="rect">
            <a:avLst/>
          </a:prstGeom>
          <a:noFill/>
          <a:ln>
            <a:noFill/>
          </a:ln>
        </p:spPr>
      </p:pic>
      <p:sp>
        <p:nvSpPr>
          <p:cNvPr id="62" name="Google Shape;62;p14"/>
          <p:cNvSpPr txBox="1"/>
          <p:nvPr/>
        </p:nvSpPr>
        <p:spPr>
          <a:xfrm>
            <a:off x="5816650" y="4353425"/>
            <a:ext cx="3091800" cy="41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i="1">
                <a:solidFill>
                  <a:srgbClr val="FFFFFF"/>
                </a:solidFill>
                <a:latin typeface="Roboto Black" panose="02000000000000000000"/>
                <a:ea typeface="Roboto Black" panose="02000000000000000000"/>
                <a:cs typeface="Roboto Black" panose="02000000000000000000"/>
                <a:sym typeface="Roboto Black" panose="02000000000000000000"/>
              </a:rPr>
              <a:t>NAME OF YOUR EVENT </a:t>
            </a:r>
            <a:endParaRPr sz="1600">
              <a:latin typeface="Roboto" panose="02000000000000000000"/>
              <a:ea typeface="Roboto" panose="02000000000000000000"/>
              <a:cs typeface="Roboto" panose="02000000000000000000"/>
              <a:sym typeface="Roboto" panose="02000000000000000000"/>
            </a:endParaRPr>
          </a:p>
        </p:txBody>
      </p:sp>
      <p:sp>
        <p:nvSpPr>
          <p:cNvPr id="63" name="Google Shape;63;p14"/>
          <p:cNvSpPr txBox="1"/>
          <p:nvPr/>
        </p:nvSpPr>
        <p:spPr>
          <a:xfrm>
            <a:off x="5796700" y="4609200"/>
            <a:ext cx="3091800" cy="39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latin typeface="Roboto" panose="02000000000000000000"/>
                <a:ea typeface="Roboto" panose="02000000000000000000"/>
                <a:cs typeface="Roboto" panose="02000000000000000000"/>
                <a:sym typeface="Roboto" panose="02000000000000000000"/>
              </a:rPr>
              <a:t>DATE OF YOUR EVENT</a:t>
            </a:r>
            <a:endParaRPr>
              <a:latin typeface="Roboto" panose="02000000000000000000"/>
              <a:ea typeface="Roboto" panose="02000000000000000000"/>
              <a:cs typeface="Roboto" panose="02000000000000000000"/>
              <a:sym typeface="Roboto" panose="02000000000000000000"/>
            </a:endParaRPr>
          </a:p>
        </p:txBody>
      </p:sp>
      <p:sp>
        <p:nvSpPr>
          <p:cNvPr id="64" name="Google Shape;64;p14"/>
          <p:cNvSpPr txBox="1"/>
          <p:nvPr/>
        </p:nvSpPr>
        <p:spPr>
          <a:xfrm>
            <a:off x="311700" y="1229475"/>
            <a:ext cx="8520600" cy="572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3000" i="1">
                <a:solidFill>
                  <a:srgbClr val="FDB515"/>
                </a:solidFill>
                <a:latin typeface="Roboto Black" panose="02000000000000000000"/>
                <a:ea typeface="Roboto Black" panose="02000000000000000000"/>
                <a:cs typeface="Roboto Black" panose="02000000000000000000"/>
                <a:sym typeface="Roboto Black" panose="02000000000000000000"/>
              </a:rPr>
              <a:t>TITLE</a:t>
            </a:r>
            <a:endParaRPr sz="3000" i="1">
              <a:solidFill>
                <a:srgbClr val="FDB515"/>
              </a:solidFill>
              <a:latin typeface="Roboto Black" panose="02000000000000000000"/>
              <a:ea typeface="Roboto Black" panose="02000000000000000000"/>
              <a:cs typeface="Roboto Black" panose="02000000000000000000"/>
              <a:sym typeface="Roboto Black" panose="02000000000000000000"/>
            </a:endParaRPr>
          </a:p>
        </p:txBody>
      </p:sp>
      <p:sp>
        <p:nvSpPr>
          <p:cNvPr id="65" name="Google Shape;65;p14"/>
          <p:cNvSpPr txBox="1"/>
          <p:nvPr/>
        </p:nvSpPr>
        <p:spPr>
          <a:xfrm>
            <a:off x="311700" y="1964125"/>
            <a:ext cx="8520600" cy="26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Roboto" panose="02000000000000000000"/>
                <a:ea typeface="Roboto" panose="02000000000000000000"/>
                <a:cs typeface="Roboto" panose="02000000000000000000"/>
                <a:sym typeface="Roboto" panose="02000000000000000000"/>
              </a:rPr>
              <a:t>Text</a:t>
            </a:r>
            <a:endParaRPr sz="1200">
              <a:latin typeface="Roboto" panose="02000000000000000000"/>
              <a:ea typeface="Roboto" panose="02000000000000000000"/>
              <a:cs typeface="Roboto" panose="02000000000000000000"/>
              <a:sym typeface="Roboto" panose="02000000000000000000"/>
            </a:endParaRPr>
          </a:p>
        </p:txBody>
      </p:sp>
      <p:sp>
        <p:nvSpPr>
          <p:cNvPr id="66" name="Google Shape;66;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6.png"/><Relationship Id="rId15" Type="http://schemas.openxmlformats.org/officeDocument/2006/relationships/image" Target="../media/image5.png"/><Relationship Id="rId14" Type="http://schemas.openxmlformats.org/officeDocument/2006/relationships/image" Target="../media/image4.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a:blip r:embed="rId14"/>
          <a:stretch>
            <a:fillRect/>
          </a:stretch>
        </p:blipFill>
        <p:spPr>
          <a:xfrm>
            <a:off x="8159445" y="4144200"/>
            <a:ext cx="984551" cy="999300"/>
          </a:xfrm>
          <a:prstGeom prst="rect">
            <a:avLst/>
          </a:prstGeom>
          <a:noFill/>
          <a:ln>
            <a:noFill/>
          </a:ln>
        </p:spPr>
      </p:pic>
      <p:sp>
        <p:nvSpPr>
          <p:cNvPr id="7" name="Google Shape;7;p1"/>
          <p:cNvSpPr txBox="1">
            <a:spLocks noGrp="1"/>
          </p:cNvSpPr>
          <p:nvPr>
            <p:ph type="title"/>
          </p:nvPr>
        </p:nvSpPr>
        <p:spPr>
          <a:xfrm>
            <a:off x="311700" y="649750"/>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8" name="Google Shape;8;p1"/>
          <p:cNvSpPr txBox="1">
            <a:spLocks noGrp="1"/>
          </p:cNvSpPr>
          <p:nvPr>
            <p:ph type="body" idx="1"/>
          </p:nvPr>
        </p:nvSpPr>
        <p:spPr>
          <a:xfrm>
            <a:off x="311700" y="1222450"/>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p:txBody>
      </p:sp>
      <p:sp>
        <p:nvSpPr>
          <p:cNvPr id="9" name="Google Shape;9;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pic>
        <p:nvPicPr>
          <p:cNvPr id="10" name="Google Shape;10;p1"/>
          <p:cNvPicPr preferRelativeResize="0"/>
          <p:nvPr/>
        </p:nvPicPr>
        <p:blipFill>
          <a:blip r:embed="rId15"/>
          <a:stretch>
            <a:fillRect/>
          </a:stretch>
        </p:blipFill>
        <p:spPr>
          <a:xfrm>
            <a:off x="0" y="0"/>
            <a:ext cx="9144000" cy="571500"/>
          </a:xfrm>
          <a:prstGeom prst="rect">
            <a:avLst/>
          </a:prstGeom>
          <a:noFill/>
          <a:ln>
            <a:noFill/>
          </a:ln>
        </p:spPr>
      </p:pic>
      <p:pic>
        <p:nvPicPr>
          <p:cNvPr id="11" name="Google Shape;11;p1"/>
          <p:cNvPicPr preferRelativeResize="0"/>
          <p:nvPr/>
        </p:nvPicPr>
        <p:blipFill>
          <a:blip r:embed="rId16"/>
          <a:stretch>
            <a:fillRect/>
          </a:stretch>
        </p:blipFill>
        <p:spPr>
          <a:xfrm>
            <a:off x="388600" y="65336"/>
            <a:ext cx="1913424" cy="4408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jpeg"/><Relationship Id="rId1"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71" name="Google Shape;71;p15"/>
          <p:cNvPicPr preferRelativeResize="0"/>
          <p:nvPr/>
        </p:nvPicPr>
        <p:blipFill>
          <a:blip r:embed="rId1"/>
          <a:stretch>
            <a:fillRect/>
          </a:stretch>
        </p:blipFill>
        <p:spPr>
          <a:xfrm>
            <a:off x="0" y="256032"/>
            <a:ext cx="9144000" cy="5143500"/>
          </a:xfrm>
          <a:prstGeom prst="rect">
            <a:avLst/>
          </a:prstGeom>
          <a:noFill/>
          <a:ln>
            <a:noFill/>
          </a:ln>
        </p:spPr>
      </p:pic>
      <p:pic>
        <p:nvPicPr>
          <p:cNvPr id="72" name="Google Shape;72;p15"/>
          <p:cNvPicPr preferRelativeResize="0"/>
          <p:nvPr/>
        </p:nvPicPr>
        <p:blipFill rotWithShape="1">
          <a:blip r:embed="rId2"/>
          <a:srcRect t="30619" b="30976"/>
          <a:stretch>
            <a:fillRect/>
          </a:stretch>
        </p:blipFill>
        <p:spPr>
          <a:xfrm>
            <a:off x="29900" y="1971804"/>
            <a:ext cx="3406871" cy="1011000"/>
          </a:xfrm>
          <a:prstGeom prst="rect">
            <a:avLst/>
          </a:prstGeom>
          <a:noFill/>
          <a:ln>
            <a:noFill/>
          </a:ln>
        </p:spPr>
      </p:pic>
      <p:sp>
        <p:nvSpPr>
          <p:cNvPr id="73" name="Google Shape;73;p15"/>
          <p:cNvSpPr txBox="1"/>
          <p:nvPr/>
        </p:nvSpPr>
        <p:spPr>
          <a:xfrm>
            <a:off x="4433525" y="1076250"/>
            <a:ext cx="4652700" cy="149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3100" i="1" dirty="0">
                <a:solidFill>
                  <a:srgbClr val="FFFFFF"/>
                </a:solidFill>
                <a:latin typeface="Roboto Black" panose="02000000000000000000"/>
                <a:ea typeface="Roboto Black" panose="02000000000000000000"/>
                <a:cs typeface="Roboto Black" panose="02000000000000000000"/>
                <a:sym typeface="Roboto Black" panose="02000000000000000000"/>
              </a:rPr>
              <a:t>Python Powered Stock Market Analytics with MongoDB, </a:t>
            </a:r>
            <a:r>
              <a:rPr lang="en-GB" sz="3100" i="1" dirty="0" err="1">
                <a:solidFill>
                  <a:srgbClr val="FFFFFF"/>
                </a:solidFill>
                <a:latin typeface="Roboto Black" panose="02000000000000000000"/>
                <a:ea typeface="Roboto Black" panose="02000000000000000000"/>
                <a:cs typeface="Roboto Black" panose="02000000000000000000"/>
                <a:sym typeface="Roboto Black" panose="02000000000000000000"/>
              </a:rPr>
              <a:t>PySpark</a:t>
            </a:r>
            <a:r>
              <a:rPr lang="en-GB" sz="3100" i="1" dirty="0">
                <a:solidFill>
                  <a:srgbClr val="FFFFFF"/>
                </a:solidFill>
                <a:latin typeface="Roboto Black" panose="02000000000000000000"/>
                <a:ea typeface="Roboto Black" panose="02000000000000000000"/>
                <a:cs typeface="Roboto Black" panose="02000000000000000000"/>
                <a:sym typeface="Roboto Black" panose="02000000000000000000"/>
              </a:rPr>
              <a:t> and Tableau  </a:t>
            </a:r>
            <a:endParaRPr sz="3100" dirty="0">
              <a:latin typeface="Roboto" panose="02000000000000000000"/>
              <a:ea typeface="Roboto" panose="02000000000000000000"/>
              <a:cs typeface="Roboto" panose="02000000000000000000"/>
              <a:sym typeface="Roboto" panose="02000000000000000000"/>
            </a:endParaRPr>
          </a:p>
        </p:txBody>
      </p:sp>
      <p:sp>
        <p:nvSpPr>
          <p:cNvPr id="74" name="Google Shape;74;p15"/>
          <p:cNvSpPr txBox="1"/>
          <p:nvPr/>
        </p:nvSpPr>
        <p:spPr>
          <a:xfrm>
            <a:off x="4078014" y="3153103"/>
            <a:ext cx="4831850" cy="1618593"/>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panose="020B0604020202020204"/>
              <a:buNone/>
            </a:pPr>
            <a:r>
              <a:rPr lang="en-GB" sz="2400" dirty="0">
                <a:solidFill>
                  <a:schemeClr val="dk2"/>
                </a:solidFill>
                <a:latin typeface="Times New Roman" panose="02020603050405020304" pitchFamily="18" charset="0"/>
                <a:cs typeface="Times New Roman" panose="02020603050405020304" pitchFamily="18" charset="0"/>
              </a:rPr>
              <a:t>Presenters:</a:t>
            </a:r>
            <a:endParaRPr sz="2400" dirty="0">
              <a:solidFill>
                <a:schemeClr val="dk2"/>
              </a:solidFill>
              <a:latin typeface="Times New Roman" panose="02020603050405020304" pitchFamily="18" charset="0"/>
              <a:cs typeface="Times New Roman" panose="02020603050405020304" pitchFamily="18" charset="0"/>
            </a:endParaRPr>
          </a:p>
          <a:p>
            <a:pPr marL="0" lvl="0" indent="0" algn="r" rtl="0">
              <a:spcBef>
                <a:spcPts val="0"/>
              </a:spcBef>
              <a:spcAft>
                <a:spcPts val="0"/>
              </a:spcAft>
              <a:buClr>
                <a:schemeClr val="dk1"/>
              </a:buClr>
              <a:buSzPts val="1100"/>
              <a:buFont typeface="Arial" panose="020B0604020202020204"/>
              <a:buNone/>
            </a:pPr>
            <a:r>
              <a:rPr lang="en-GB" sz="2400" dirty="0">
                <a:solidFill>
                  <a:schemeClr val="dk2"/>
                </a:solidFill>
                <a:latin typeface="Times New Roman" panose="02020603050405020304" pitchFamily="18" charset="0"/>
                <a:cs typeface="Times New Roman" panose="02020603050405020304" pitchFamily="18" charset="0"/>
              </a:rPr>
              <a:t>Akhilesh </a:t>
            </a:r>
            <a:r>
              <a:rPr lang="en-IN" altLang="en-GB" sz="2400" dirty="0" err="1">
                <a:solidFill>
                  <a:schemeClr val="dk2"/>
                </a:solidFill>
                <a:latin typeface="Times New Roman" panose="02020603050405020304" pitchFamily="18" charset="0"/>
                <a:cs typeface="Times New Roman" panose="02020603050405020304" pitchFamily="18" charset="0"/>
              </a:rPr>
              <a:t>Akoju</a:t>
            </a:r>
            <a:endParaRPr sz="2400" dirty="0">
              <a:solidFill>
                <a:schemeClr val="dk2"/>
              </a:solidFill>
              <a:latin typeface="Times New Roman" panose="02020603050405020304" pitchFamily="18" charset="0"/>
              <a:cs typeface="Times New Roman" panose="02020603050405020304" pitchFamily="18" charset="0"/>
            </a:endParaRPr>
          </a:p>
          <a:p>
            <a:pPr marL="0" lvl="0" indent="0" algn="r" rtl="0">
              <a:spcBef>
                <a:spcPts val="0"/>
              </a:spcBef>
              <a:spcAft>
                <a:spcPts val="0"/>
              </a:spcAft>
              <a:buClr>
                <a:schemeClr val="dk1"/>
              </a:buClr>
              <a:buSzPts val="1100"/>
              <a:buFont typeface="Arial" panose="020B0604020202020204"/>
              <a:buNone/>
            </a:pPr>
            <a:r>
              <a:rPr lang="en-GB" sz="2400" dirty="0">
                <a:solidFill>
                  <a:schemeClr val="dk2"/>
                </a:solidFill>
                <a:latin typeface="Times New Roman" panose="02020603050405020304" pitchFamily="18" charset="0"/>
                <a:cs typeface="Times New Roman" panose="02020603050405020304" pitchFamily="18" charset="0"/>
              </a:rPr>
              <a:t>Almas</a:t>
            </a:r>
            <a:r>
              <a:rPr lang="en-IN" altLang="en-GB" sz="2400" dirty="0">
                <a:solidFill>
                  <a:schemeClr val="dk2"/>
                </a:solidFill>
                <a:latin typeface="Times New Roman" panose="02020603050405020304" pitchFamily="18" charset="0"/>
                <a:cs typeface="Times New Roman" panose="02020603050405020304" pitchFamily="18" charset="0"/>
              </a:rPr>
              <a:t> </a:t>
            </a:r>
            <a:r>
              <a:rPr lang="en-IN" altLang="en-GB" sz="2400" dirty="0" err="1">
                <a:solidFill>
                  <a:schemeClr val="dk2"/>
                </a:solidFill>
                <a:latin typeface="Times New Roman" panose="02020603050405020304" pitchFamily="18" charset="0"/>
                <a:cs typeface="Times New Roman" panose="02020603050405020304" pitchFamily="18" charset="0"/>
              </a:rPr>
              <a:t>Fathimah</a:t>
            </a:r>
            <a:endParaRPr sz="2400" dirty="0">
              <a:solidFill>
                <a:schemeClr val="dk2"/>
              </a:solidFill>
              <a:latin typeface="Times New Roman" panose="02020603050405020304" pitchFamily="18" charset="0"/>
              <a:cs typeface="Times New Roman" panose="02020603050405020304" pitchFamily="18" charset="0"/>
            </a:endParaRPr>
          </a:p>
          <a:p>
            <a:pPr marL="0" lvl="0" indent="0" algn="r" rtl="0">
              <a:spcBef>
                <a:spcPts val="0"/>
              </a:spcBef>
              <a:spcAft>
                <a:spcPts val="0"/>
              </a:spcAft>
              <a:buClr>
                <a:schemeClr val="dk1"/>
              </a:buClr>
              <a:buSzPts val="1100"/>
              <a:buFont typeface="Arial" panose="020B0604020202020204"/>
              <a:buNone/>
            </a:pPr>
            <a:r>
              <a:rPr lang="en-GB" sz="2400" dirty="0">
                <a:solidFill>
                  <a:schemeClr val="dk2"/>
                </a:solidFill>
                <a:latin typeface="Times New Roman" panose="02020603050405020304" pitchFamily="18" charset="0"/>
                <a:cs typeface="Times New Roman" panose="02020603050405020304" pitchFamily="18" charset="0"/>
              </a:rPr>
              <a:t>Rupesh</a:t>
            </a:r>
            <a:r>
              <a:rPr lang="en-IN" altLang="en-GB" sz="2400" dirty="0">
                <a:solidFill>
                  <a:schemeClr val="dk2"/>
                </a:solidFill>
                <a:latin typeface="Times New Roman" panose="02020603050405020304" pitchFamily="18" charset="0"/>
                <a:cs typeface="Times New Roman" panose="02020603050405020304" pitchFamily="18" charset="0"/>
              </a:rPr>
              <a:t> </a:t>
            </a:r>
            <a:r>
              <a:rPr lang="en-IN" altLang="en-GB" sz="2400" dirty="0" err="1">
                <a:solidFill>
                  <a:schemeClr val="dk2"/>
                </a:solidFill>
                <a:latin typeface="Times New Roman" panose="02020603050405020304" pitchFamily="18" charset="0"/>
                <a:cs typeface="Times New Roman" panose="02020603050405020304" pitchFamily="18" charset="0"/>
              </a:rPr>
              <a:t>Koram</a:t>
            </a:r>
            <a:endParaRPr sz="2400" dirty="0">
              <a:solidFill>
                <a:schemeClr val="dk2"/>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1100"/>
              <a:buFont typeface="Arial" panose="020B0604020202020204"/>
              <a:buNone/>
            </a:pPr>
            <a:endParaRPr sz="1700" dirty="0">
              <a:solidFill>
                <a:schemeClr val="dk1"/>
              </a:solidFill>
              <a:latin typeface="Roboto" panose="02000000000000000000"/>
              <a:ea typeface="Roboto" panose="02000000000000000000"/>
              <a:cs typeface="Roboto" panose="02000000000000000000"/>
              <a:sym typeface="Roboto" panose="02000000000000000000"/>
            </a:endParaRPr>
          </a:p>
        </p:txBody>
      </p:sp>
      <p:sp>
        <p:nvSpPr>
          <p:cNvPr id="75" name="Google Shape;7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69" name="Rectangle 10268"/>
          <p:cNvSpPr>
            <a:spLocks noGrp="1" noRot="1" noChangeAspect="1" noMove="1" noResize="1" noEditPoints="1" noAdjustHandles="1" noChangeArrowheads="1" noChangeShapeType="1" noTextEdit="1"/>
          </p:cNvSpPr>
          <p:nvPr/>
        </p:nvSpPr>
        <p:spPr>
          <a:xfrm>
            <a:off x="0" y="1"/>
            <a:ext cx="9144000" cy="51434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8" y="342900"/>
            <a:ext cx="7588358" cy="862853"/>
          </a:xfrm>
        </p:spPr>
        <p:txBody>
          <a:bodyPr vert="horz" lIns="91440" tIns="45720" rIns="91440" bIns="45720" rtlCol="0" anchor="b">
            <a:normAutofit/>
          </a:bodyPr>
          <a:lstStyle/>
          <a:p>
            <a:pPr>
              <a:lnSpc>
                <a:spcPct val="90000"/>
              </a:lnSpc>
              <a:spcBef>
                <a:spcPct val="0"/>
              </a:spcBef>
            </a:pPr>
            <a:r>
              <a:rPr lang="en-US" sz="3000" kern="1200" dirty="0">
                <a:solidFill>
                  <a:schemeClr val="tx1"/>
                </a:solidFill>
                <a:latin typeface="+mj-lt"/>
                <a:ea typeface="+mj-ea"/>
                <a:cs typeface="+mj-cs"/>
              </a:rPr>
              <a:t> </a:t>
            </a:r>
            <a:r>
              <a:rPr lang="en-US" kern="1200" dirty="0">
                <a:solidFill>
                  <a:schemeClr val="tx1"/>
                </a:solidFill>
                <a:latin typeface="Times New Roman" panose="02020603050405020304" pitchFamily="18" charset="0"/>
                <a:ea typeface="+mj-ea"/>
                <a:cs typeface="Times New Roman" panose="02020603050405020304" pitchFamily="18" charset="0"/>
              </a:rPr>
              <a:t>Introduction</a:t>
            </a:r>
            <a:r>
              <a:rPr lang="en-US" sz="3000" kern="1200" dirty="0">
                <a:solidFill>
                  <a:schemeClr val="tx1"/>
                </a:solidFill>
                <a:latin typeface="+mj-lt"/>
                <a:ea typeface="+mj-ea"/>
                <a:cs typeface="+mj-cs"/>
              </a:rPr>
              <a:t>:</a:t>
            </a:r>
            <a:endParaRPr lang="en-US" sz="3000" kern="1200" dirty="0">
              <a:solidFill>
                <a:schemeClr val="tx1"/>
              </a:solidFill>
              <a:latin typeface="+mj-lt"/>
              <a:ea typeface="+mj-ea"/>
              <a:cs typeface="+mj-cs"/>
            </a:endParaRPr>
          </a:p>
        </p:txBody>
      </p:sp>
      <p:sp>
        <p:nvSpPr>
          <p:cNvPr id="3" name="Text Placeholder 2"/>
          <p:cNvSpPr>
            <a:spLocks noGrp="1"/>
          </p:cNvSpPr>
          <p:nvPr>
            <p:ph type="body" idx="1"/>
          </p:nvPr>
        </p:nvSpPr>
        <p:spPr>
          <a:xfrm>
            <a:off x="862714" y="1485581"/>
            <a:ext cx="4501377" cy="2724618"/>
          </a:xfr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b="0" i="0" kern="1200" dirty="0">
                <a:solidFill>
                  <a:schemeClr val="tx1"/>
                </a:solidFill>
                <a:effectLst/>
                <a:latin typeface="Times New Roman" panose="02020603050405020304" pitchFamily="18" charset="0"/>
                <a:ea typeface="+mn-ea"/>
                <a:cs typeface="Times New Roman" panose="02020603050405020304" pitchFamily="18" charset="0"/>
              </a:rPr>
              <a:t>Stock market analysis is a method of evaluating and understanding the stock market, either for individual stocks or the market as a whole. The primary goal is to forecast future market behavior and make informed investment decisions. In your project, leveraging big data technologies like MongoDB, </a:t>
            </a:r>
            <a:r>
              <a:rPr lang="en-US" b="0" i="0" kern="1200" dirty="0" err="1">
                <a:solidFill>
                  <a:schemeClr val="tx1"/>
                </a:solidFill>
                <a:effectLst/>
                <a:latin typeface="Times New Roman" panose="02020603050405020304" pitchFamily="18" charset="0"/>
                <a:ea typeface="+mn-ea"/>
                <a:cs typeface="Times New Roman" panose="02020603050405020304" pitchFamily="18" charset="0"/>
              </a:rPr>
              <a:t>PySpark</a:t>
            </a:r>
            <a:r>
              <a:rPr lang="en-US" b="0" i="0" kern="1200" dirty="0">
                <a:solidFill>
                  <a:schemeClr val="tx1"/>
                </a:solidFill>
                <a:effectLst/>
                <a:latin typeface="Times New Roman" panose="02020603050405020304" pitchFamily="18" charset="0"/>
                <a:ea typeface="+mn-ea"/>
                <a:cs typeface="Times New Roman" panose="02020603050405020304" pitchFamily="18" charset="0"/>
              </a:rPr>
              <a:t>, and Tableau adds significant value and capabilities.</a:t>
            </a:r>
            <a:endParaRPr lang="en-US" b="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b="0" i="0" kern="1200" dirty="0">
                <a:solidFill>
                  <a:schemeClr val="tx1"/>
                </a:solidFill>
                <a:effectLst/>
                <a:latin typeface="Times New Roman" panose="02020603050405020304" pitchFamily="18" charset="0"/>
                <a:ea typeface="+mn-ea"/>
                <a:cs typeface="Times New Roman" panose="02020603050405020304" pitchFamily="18" charset="0"/>
              </a:rPr>
              <a:t>The evaluation of market trends is a fundamental aspect of stock market analysis. It involves identifying and interpreting patterns in the market, which can be upward, downward, or sideways. Analysts study these trends to predict the future direction of stock prices</a:t>
            </a:r>
            <a:endParaRPr lang="en-US" b="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kern="1200" dirty="0">
              <a:solidFill>
                <a:schemeClr val="tx1"/>
              </a:solidFill>
              <a:latin typeface="+mn-lt"/>
              <a:ea typeface="+mn-ea"/>
              <a:cs typeface="+mn-cs"/>
            </a:endParaRPr>
          </a:p>
          <a:p>
            <a:pPr marL="152400" indent="-228600">
              <a:lnSpc>
                <a:spcPct val="90000"/>
              </a:lnSpc>
              <a:spcAft>
                <a:spcPts val="600"/>
              </a:spcAft>
              <a:buFont typeface="Arial" panose="020B0604020202020204" pitchFamily="34" charset="0"/>
              <a:buChar char="•"/>
            </a:pPr>
            <a:endParaRPr lang="en-US" kern="1200" dirty="0">
              <a:solidFill>
                <a:schemeClr val="tx1"/>
              </a:solidFill>
              <a:latin typeface="+mn-lt"/>
              <a:ea typeface="+mn-ea"/>
              <a:cs typeface="+mn-cs"/>
            </a:endParaRPr>
          </a:p>
        </p:txBody>
      </p:sp>
      <p:pic>
        <p:nvPicPr>
          <p:cNvPr id="6" name="Picture 5" descr="A graph with a line and arrow&#10;&#10;Description automatically generated with medium confidence"/>
          <p:cNvPicPr>
            <a:picLocks noChangeAspect="1"/>
          </p:cNvPicPr>
          <p:nvPr/>
        </p:nvPicPr>
        <p:blipFill rotWithShape="1">
          <a:blip r:embed="rId1"/>
          <a:srcRect l="27807" r="14920"/>
          <a:stretch>
            <a:fillRect/>
          </a:stretch>
        </p:blipFill>
        <p:spPr>
          <a:xfrm>
            <a:off x="5724496" y="1118596"/>
            <a:ext cx="2811644" cy="2724618"/>
          </a:xfrm>
          <a:prstGeom prst="rect">
            <a:avLst/>
          </a:prstGeom>
        </p:spPr>
      </p:pic>
      <p:sp>
        <p:nvSpPr>
          <p:cNvPr id="10271" name="Rectangle 10270"/>
          <p:cNvSpPr>
            <a:spLocks noGrp="1" noRot="1" noChangeAspect="1" noMove="1" noResize="1" noEditPoints="1" noAdjustHandles="1" noChangeArrowheads="1" noChangeShapeType="1" noTextEdit="1"/>
          </p:cNvSpPr>
          <p:nvPr/>
        </p:nvSpPr>
        <p:spPr>
          <a:xfrm>
            <a:off x="0" y="4801471"/>
            <a:ext cx="9143998" cy="346331"/>
          </a:xfrm>
          <a:prstGeom prst="rect">
            <a:avLst/>
          </a:prstGeom>
          <a:gradFill>
            <a:gsLst>
              <a:gs pos="0">
                <a:srgbClr val="000000"/>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3" name="Rectangle 10272"/>
          <p:cNvSpPr>
            <a:spLocks noGrp="1" noRot="1" noChangeAspect="1" noMove="1" noResize="1" noEditPoints="1" noAdjustHandles="1" noChangeArrowheads="1" noChangeShapeType="1" noTextEdit="1"/>
          </p:cNvSpPr>
          <p:nvPr/>
        </p:nvSpPr>
        <p:spPr>
          <a:xfrm>
            <a:off x="0" y="4801471"/>
            <a:ext cx="3057523" cy="348299"/>
          </a:xfrm>
          <a:prstGeom prst="rect">
            <a:avLst/>
          </a:prstGeom>
          <a:gradFill>
            <a:gsLst>
              <a:gs pos="0">
                <a:srgbClr val="000000">
                  <a:alpha val="46000"/>
                </a:srgbClr>
              </a:gs>
              <a:gs pos="99000">
                <a:schemeClr val="accent1"/>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idx="12"/>
          </p:nvPr>
        </p:nvSpPr>
        <p:spPr>
          <a:xfrm>
            <a:off x="8778240" y="4844533"/>
            <a:ext cx="336042" cy="273844"/>
          </a:xfrm>
        </p:spPr>
        <p:txBody>
          <a:bodyPr vert="horz" lIns="91440" tIns="45720" rIns="91440" bIns="45720" rtlCol="0" anchor="ctr">
            <a:normAutofit/>
          </a:bodyPr>
          <a:lstStyle/>
          <a:p>
            <a:pPr>
              <a:lnSpc>
                <a:spcPct val="90000"/>
              </a:lnSpc>
              <a:spcAft>
                <a:spcPts val="600"/>
              </a:spcAft>
              <a:buClrTx/>
              <a:defRPr/>
            </a:pPr>
            <a:fld id="{00000000-1234-1234-1234-123412341234}" type="slidenum">
              <a:rPr lang="en-US" sz="700" kern="1200">
                <a:solidFill>
                  <a:srgbClr val="FFFFFF"/>
                </a:solidFill>
                <a:latin typeface="Calibri" panose="020F0502020204030204"/>
                <a:ea typeface="+mn-ea"/>
                <a:cs typeface="+mn-cs"/>
              </a:rPr>
            </a:fld>
            <a:endParaRPr lang="en-US" sz="700" kern="1200">
              <a:solidFill>
                <a:srgbClr val="FFFFFF"/>
              </a:solidFill>
              <a:latin typeface="Calibri" panose="020F0502020204030204"/>
              <a:ea typeface="+mn-ea"/>
              <a:cs typeface="+mn-cs"/>
            </a:endParaRPr>
          </a:p>
        </p:txBody>
      </p:sp>
      <p:sp>
        <p:nvSpPr>
          <p:cNvPr id="10244" name="AutoShape 4" descr="Understand Stock Chart Analysis including Trend, Support and Resistance  Level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10246" name="AutoShape 6" descr="Understand Stock Chart Analysis including Trend, Support and Resistance  Level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p:cNvSpPr>
            <a:spLocks noGrp="1" noRot="1" noChangeAspect="1" noMove="1" noResize="1" noEditPoints="1" noAdjustHandles="1" noChangeArrowheads="1" noChangeShapeType="1" noTextEdit="1"/>
          </p:cNvSpPr>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29369" y="178904"/>
            <a:ext cx="8263890" cy="1075811"/>
          </a:xfrm>
        </p:spPr>
        <p:txBody>
          <a:bodyPr vert="horz" lIns="91440" tIns="45720" rIns="91440" bIns="45720" rtlCol="0" anchor="b">
            <a:normAutofit/>
          </a:bodyPr>
          <a:lstStyle/>
          <a:p>
            <a:pPr>
              <a:lnSpc>
                <a:spcPct val="90000"/>
              </a:lnSpc>
              <a:spcBef>
                <a:spcPct val="0"/>
              </a:spcBef>
            </a:pPr>
            <a:r>
              <a:rPr lang="en-US" kern="1200" dirty="0">
                <a:solidFill>
                  <a:schemeClr val="tx1"/>
                </a:solidFill>
                <a:latin typeface="Times New Roman" panose="02020603050405020304" pitchFamily="18" charset="0"/>
                <a:ea typeface="+mj-ea"/>
                <a:cs typeface="Times New Roman" panose="02020603050405020304" pitchFamily="18" charset="0"/>
              </a:rPr>
              <a:t>Project Objectives</a:t>
            </a:r>
            <a:endParaRPr lang="en-US" kern="1200" dirty="0">
              <a:solidFill>
                <a:schemeClr val="tx1"/>
              </a:solidFill>
              <a:latin typeface="Times New Roman" panose="02020603050405020304" pitchFamily="18" charset="0"/>
              <a:ea typeface="+mj-ea"/>
              <a:cs typeface="Times New Roman" panose="02020603050405020304" pitchFamily="18" charset="0"/>
            </a:endParaRPr>
          </a:p>
        </p:txBody>
      </p:sp>
      <p:sp>
        <p:nvSpPr>
          <p:cNvPr id="1033" name="sketchy line"/>
          <p:cNvSpPr>
            <a:spLocks noGrp="1" noRot="1" noChangeAspect="1" noMove="1" noResize="1" noEditPoints="1" noAdjustHandles="1" noChangeArrowheads="1" noChangeShapeType="1" noTextEdit="1"/>
          </p:cNvSpPr>
          <p:nvPr/>
        </p:nvSpPr>
        <p:spPr>
          <a:xfrm>
            <a:off x="429369" y="1261158"/>
            <a:ext cx="8229600" cy="13716"/>
          </a:xfrm>
          <a:custGeom>
            <a:avLst/>
            <a:gdLst>
              <a:gd name="connsiteX0" fmla="*/ 0 w 8229600"/>
              <a:gd name="connsiteY0" fmla="*/ 0 h 13716"/>
              <a:gd name="connsiteX1" fmla="*/ 521208 w 8229600"/>
              <a:gd name="connsiteY1" fmla="*/ 0 h 13716"/>
              <a:gd name="connsiteX2" fmla="*/ 1371600 w 8229600"/>
              <a:gd name="connsiteY2" fmla="*/ 0 h 13716"/>
              <a:gd name="connsiteX3" fmla="*/ 2221992 w 8229600"/>
              <a:gd name="connsiteY3" fmla="*/ 0 h 13716"/>
              <a:gd name="connsiteX4" fmla="*/ 3072384 w 8229600"/>
              <a:gd name="connsiteY4" fmla="*/ 0 h 13716"/>
              <a:gd name="connsiteX5" fmla="*/ 3511296 w 8229600"/>
              <a:gd name="connsiteY5" fmla="*/ 0 h 13716"/>
              <a:gd name="connsiteX6" fmla="*/ 4114800 w 8229600"/>
              <a:gd name="connsiteY6" fmla="*/ 0 h 13716"/>
              <a:gd name="connsiteX7" fmla="*/ 4553712 w 8229600"/>
              <a:gd name="connsiteY7" fmla="*/ 0 h 13716"/>
              <a:gd name="connsiteX8" fmla="*/ 5239512 w 8229600"/>
              <a:gd name="connsiteY8" fmla="*/ 0 h 13716"/>
              <a:gd name="connsiteX9" fmla="*/ 5843016 w 8229600"/>
              <a:gd name="connsiteY9" fmla="*/ 0 h 13716"/>
              <a:gd name="connsiteX10" fmla="*/ 6611112 w 8229600"/>
              <a:gd name="connsiteY10" fmla="*/ 0 h 13716"/>
              <a:gd name="connsiteX11" fmla="*/ 7461504 w 8229600"/>
              <a:gd name="connsiteY11" fmla="*/ 0 h 13716"/>
              <a:gd name="connsiteX12" fmla="*/ 8229600 w 8229600"/>
              <a:gd name="connsiteY12" fmla="*/ 0 h 13716"/>
              <a:gd name="connsiteX13" fmla="*/ 8229600 w 8229600"/>
              <a:gd name="connsiteY13" fmla="*/ 13716 h 13716"/>
              <a:gd name="connsiteX14" fmla="*/ 7461504 w 8229600"/>
              <a:gd name="connsiteY14" fmla="*/ 13716 h 13716"/>
              <a:gd name="connsiteX15" fmla="*/ 6940296 w 8229600"/>
              <a:gd name="connsiteY15" fmla="*/ 13716 h 13716"/>
              <a:gd name="connsiteX16" fmla="*/ 6419088 w 8229600"/>
              <a:gd name="connsiteY16" fmla="*/ 13716 h 13716"/>
              <a:gd name="connsiteX17" fmla="*/ 5650992 w 8229600"/>
              <a:gd name="connsiteY17" fmla="*/ 13716 h 13716"/>
              <a:gd name="connsiteX18" fmla="*/ 5129784 w 8229600"/>
              <a:gd name="connsiteY18" fmla="*/ 13716 h 13716"/>
              <a:gd name="connsiteX19" fmla="*/ 4690872 w 8229600"/>
              <a:gd name="connsiteY19" fmla="*/ 13716 h 13716"/>
              <a:gd name="connsiteX20" fmla="*/ 4087368 w 8229600"/>
              <a:gd name="connsiteY20" fmla="*/ 13716 h 13716"/>
              <a:gd name="connsiteX21" fmla="*/ 3401568 w 8229600"/>
              <a:gd name="connsiteY21" fmla="*/ 13716 h 13716"/>
              <a:gd name="connsiteX22" fmla="*/ 2798064 w 8229600"/>
              <a:gd name="connsiteY22" fmla="*/ 13716 h 13716"/>
              <a:gd name="connsiteX23" fmla="*/ 2276856 w 8229600"/>
              <a:gd name="connsiteY23" fmla="*/ 13716 h 13716"/>
              <a:gd name="connsiteX24" fmla="*/ 1426464 w 8229600"/>
              <a:gd name="connsiteY24" fmla="*/ 13716 h 13716"/>
              <a:gd name="connsiteX25" fmla="*/ 740664 w 8229600"/>
              <a:gd name="connsiteY25" fmla="*/ 13716 h 13716"/>
              <a:gd name="connsiteX26" fmla="*/ 0 w 8229600"/>
              <a:gd name="connsiteY26" fmla="*/ 13716 h 13716"/>
              <a:gd name="connsiteX27" fmla="*/ 0 w 8229600"/>
              <a:gd name="connsiteY27" fmla="*/ 0 h 13716"/>
              <a:gd name="connsiteX0-1" fmla="*/ 0 w 8229600"/>
              <a:gd name="connsiteY0-2" fmla="*/ 0 h 13716"/>
              <a:gd name="connsiteX1-3" fmla="*/ 521208 w 8229600"/>
              <a:gd name="connsiteY1-4" fmla="*/ 0 h 13716"/>
              <a:gd name="connsiteX2-5" fmla="*/ 960120 w 8229600"/>
              <a:gd name="connsiteY2-6" fmla="*/ 0 h 13716"/>
              <a:gd name="connsiteX3-7" fmla="*/ 1481328 w 8229600"/>
              <a:gd name="connsiteY3-8" fmla="*/ 0 h 13716"/>
              <a:gd name="connsiteX4-9" fmla="*/ 2167128 w 8229600"/>
              <a:gd name="connsiteY4-10" fmla="*/ 0 h 13716"/>
              <a:gd name="connsiteX5-11" fmla="*/ 2935224 w 8229600"/>
              <a:gd name="connsiteY5-12" fmla="*/ 0 h 13716"/>
              <a:gd name="connsiteX6-13" fmla="*/ 3785616 w 8229600"/>
              <a:gd name="connsiteY6-14" fmla="*/ 0 h 13716"/>
              <a:gd name="connsiteX7-15" fmla="*/ 4636008 w 8229600"/>
              <a:gd name="connsiteY7-16" fmla="*/ 0 h 13716"/>
              <a:gd name="connsiteX8-17" fmla="*/ 5239512 w 8229600"/>
              <a:gd name="connsiteY8-18" fmla="*/ 0 h 13716"/>
              <a:gd name="connsiteX9-19" fmla="*/ 6007608 w 8229600"/>
              <a:gd name="connsiteY9-20" fmla="*/ 0 h 13716"/>
              <a:gd name="connsiteX10-21" fmla="*/ 6693408 w 8229600"/>
              <a:gd name="connsiteY10-22" fmla="*/ 0 h 13716"/>
              <a:gd name="connsiteX11-23" fmla="*/ 7296912 w 8229600"/>
              <a:gd name="connsiteY11-24" fmla="*/ 0 h 13716"/>
              <a:gd name="connsiteX12-25" fmla="*/ 8229600 w 8229600"/>
              <a:gd name="connsiteY12-26" fmla="*/ 0 h 13716"/>
              <a:gd name="connsiteX13-27" fmla="*/ 8229600 w 8229600"/>
              <a:gd name="connsiteY13-28" fmla="*/ 13716 h 13716"/>
              <a:gd name="connsiteX14-29" fmla="*/ 7626096 w 8229600"/>
              <a:gd name="connsiteY14-30" fmla="*/ 13716 h 13716"/>
              <a:gd name="connsiteX15-31" fmla="*/ 7022592 w 8229600"/>
              <a:gd name="connsiteY15-32" fmla="*/ 13716 h 13716"/>
              <a:gd name="connsiteX16-33" fmla="*/ 6172200 w 8229600"/>
              <a:gd name="connsiteY16-34" fmla="*/ 13716 h 13716"/>
              <a:gd name="connsiteX17-35" fmla="*/ 5650992 w 8229600"/>
              <a:gd name="connsiteY17-36" fmla="*/ 13716 h 13716"/>
              <a:gd name="connsiteX18-37" fmla="*/ 4882896 w 8229600"/>
              <a:gd name="connsiteY18-38" fmla="*/ 13716 h 13716"/>
              <a:gd name="connsiteX19-39" fmla="*/ 4443984 w 8229600"/>
              <a:gd name="connsiteY19-40" fmla="*/ 13716 h 13716"/>
              <a:gd name="connsiteX20-41" fmla="*/ 3758184 w 8229600"/>
              <a:gd name="connsiteY20-42" fmla="*/ 13716 h 13716"/>
              <a:gd name="connsiteX21-43" fmla="*/ 3236976 w 8229600"/>
              <a:gd name="connsiteY21-44" fmla="*/ 13716 h 13716"/>
              <a:gd name="connsiteX22-45" fmla="*/ 2386584 w 8229600"/>
              <a:gd name="connsiteY22-46" fmla="*/ 13716 h 13716"/>
              <a:gd name="connsiteX23-47" fmla="*/ 1947672 w 8229600"/>
              <a:gd name="connsiteY23-48" fmla="*/ 13716 h 13716"/>
              <a:gd name="connsiteX24-49" fmla="*/ 1261872 w 8229600"/>
              <a:gd name="connsiteY24-50" fmla="*/ 13716 h 13716"/>
              <a:gd name="connsiteX25-51" fmla="*/ 822960 w 8229600"/>
              <a:gd name="connsiteY25-52" fmla="*/ 13716 h 13716"/>
              <a:gd name="connsiteX26-53" fmla="*/ 0 w 8229600"/>
              <a:gd name="connsiteY26-54" fmla="*/ 13716 h 13716"/>
              <a:gd name="connsiteX27-55" fmla="*/ 0 w 8229600"/>
              <a:gd name="connsiteY27-56" fmla="*/ 0 h 1371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Lst>
            <a:rect l="l" t="t" r="r" b="b"/>
            <a:pathLst>
              <a:path w="8229600" h="13716" fill="none" extrusionOk="0">
                <a:moveTo>
                  <a:pt x="0" y="0"/>
                </a:moveTo>
                <a:cubicBezTo>
                  <a:pt x="215278" y="6969"/>
                  <a:pt x="340572" y="21894"/>
                  <a:pt x="521208" y="0"/>
                </a:cubicBezTo>
                <a:cubicBezTo>
                  <a:pt x="745939" y="29643"/>
                  <a:pt x="1127486" y="-40512"/>
                  <a:pt x="1371600" y="0"/>
                </a:cubicBezTo>
                <a:cubicBezTo>
                  <a:pt x="1567490" y="28416"/>
                  <a:pt x="1945702" y="13075"/>
                  <a:pt x="2221992" y="0"/>
                </a:cubicBezTo>
                <a:cubicBezTo>
                  <a:pt x="2446218" y="-17340"/>
                  <a:pt x="2853686" y="-7924"/>
                  <a:pt x="3072384" y="0"/>
                </a:cubicBezTo>
                <a:cubicBezTo>
                  <a:pt x="3286960" y="20656"/>
                  <a:pt x="3324417" y="20174"/>
                  <a:pt x="3511296" y="0"/>
                </a:cubicBezTo>
                <a:cubicBezTo>
                  <a:pt x="3710690" y="-39182"/>
                  <a:pt x="3945457" y="-64074"/>
                  <a:pt x="4114800" y="0"/>
                </a:cubicBezTo>
                <a:cubicBezTo>
                  <a:pt x="4336079" y="28138"/>
                  <a:pt x="4420759" y="12117"/>
                  <a:pt x="4553712" y="0"/>
                </a:cubicBezTo>
                <a:cubicBezTo>
                  <a:pt x="4688252" y="-2224"/>
                  <a:pt x="5047430" y="19664"/>
                  <a:pt x="5239512" y="0"/>
                </a:cubicBezTo>
                <a:cubicBezTo>
                  <a:pt x="5424392" y="-49610"/>
                  <a:pt x="5708717" y="13540"/>
                  <a:pt x="5843016" y="0"/>
                </a:cubicBezTo>
                <a:cubicBezTo>
                  <a:pt x="6005788" y="32949"/>
                  <a:pt x="6198255" y="37080"/>
                  <a:pt x="6611112" y="0"/>
                </a:cubicBezTo>
                <a:cubicBezTo>
                  <a:pt x="6954152" y="635"/>
                  <a:pt x="7244390" y="18057"/>
                  <a:pt x="7461504" y="0"/>
                </a:cubicBezTo>
                <a:cubicBezTo>
                  <a:pt x="7693790" y="9882"/>
                  <a:pt x="7984486" y="17646"/>
                  <a:pt x="8229600" y="0"/>
                </a:cubicBezTo>
                <a:cubicBezTo>
                  <a:pt x="8228997" y="6635"/>
                  <a:pt x="8229550" y="9822"/>
                  <a:pt x="8229600" y="13716"/>
                </a:cubicBezTo>
                <a:cubicBezTo>
                  <a:pt x="7945777" y="15373"/>
                  <a:pt x="7812308" y="-13083"/>
                  <a:pt x="7461504" y="13716"/>
                </a:cubicBezTo>
                <a:cubicBezTo>
                  <a:pt x="7129391" y="48613"/>
                  <a:pt x="7087333" y="37334"/>
                  <a:pt x="6940296" y="13716"/>
                </a:cubicBezTo>
                <a:cubicBezTo>
                  <a:pt x="6810862" y="-27592"/>
                  <a:pt x="6701312" y="14789"/>
                  <a:pt x="6419088" y="13716"/>
                </a:cubicBezTo>
                <a:cubicBezTo>
                  <a:pt x="6152777" y="14283"/>
                  <a:pt x="5868611" y="44230"/>
                  <a:pt x="5650992" y="13716"/>
                </a:cubicBezTo>
                <a:cubicBezTo>
                  <a:pt x="5439747" y="10678"/>
                  <a:pt x="5334901" y="-5616"/>
                  <a:pt x="5129784" y="13716"/>
                </a:cubicBezTo>
                <a:cubicBezTo>
                  <a:pt x="4955906" y="35886"/>
                  <a:pt x="4793216" y="29316"/>
                  <a:pt x="4690872" y="13716"/>
                </a:cubicBezTo>
                <a:cubicBezTo>
                  <a:pt x="4552374" y="26515"/>
                  <a:pt x="4318742" y="1676"/>
                  <a:pt x="4087368" y="13716"/>
                </a:cubicBezTo>
                <a:cubicBezTo>
                  <a:pt x="3849418" y="28053"/>
                  <a:pt x="3751577" y="25116"/>
                  <a:pt x="3401568" y="13716"/>
                </a:cubicBezTo>
                <a:cubicBezTo>
                  <a:pt x="3067953" y="15837"/>
                  <a:pt x="3012425" y="22307"/>
                  <a:pt x="2798064" y="13716"/>
                </a:cubicBezTo>
                <a:cubicBezTo>
                  <a:pt x="2565154" y="11948"/>
                  <a:pt x="2426719" y="-36366"/>
                  <a:pt x="2276856" y="13716"/>
                </a:cubicBezTo>
                <a:cubicBezTo>
                  <a:pt x="2090980" y="-190"/>
                  <a:pt x="1702030" y="-12752"/>
                  <a:pt x="1426464" y="13716"/>
                </a:cubicBezTo>
                <a:cubicBezTo>
                  <a:pt x="1104481" y="65071"/>
                  <a:pt x="985013" y="-12262"/>
                  <a:pt x="740664" y="13716"/>
                </a:cubicBezTo>
                <a:cubicBezTo>
                  <a:pt x="507391" y="37071"/>
                  <a:pt x="191740" y="-16226"/>
                  <a:pt x="0" y="13716"/>
                </a:cubicBezTo>
                <a:cubicBezTo>
                  <a:pt x="503" y="9208"/>
                  <a:pt x="165" y="5575"/>
                  <a:pt x="0" y="0"/>
                </a:cubicBezTo>
                <a:close/>
              </a:path>
              <a:path w="8229600" h="13716" stroke="0" extrusionOk="0">
                <a:moveTo>
                  <a:pt x="0" y="0"/>
                </a:moveTo>
                <a:cubicBezTo>
                  <a:pt x="270709" y="-27213"/>
                  <a:pt x="397128" y="23656"/>
                  <a:pt x="521208" y="0"/>
                </a:cubicBezTo>
                <a:cubicBezTo>
                  <a:pt x="631319" y="-5947"/>
                  <a:pt x="842157" y="28261"/>
                  <a:pt x="960120" y="0"/>
                </a:cubicBezTo>
                <a:cubicBezTo>
                  <a:pt x="1077930" y="6549"/>
                  <a:pt x="1318669" y="-15893"/>
                  <a:pt x="1481328" y="0"/>
                </a:cubicBezTo>
                <a:cubicBezTo>
                  <a:pt x="1659104" y="-21090"/>
                  <a:pt x="1870243" y="69945"/>
                  <a:pt x="2167128" y="0"/>
                </a:cubicBezTo>
                <a:cubicBezTo>
                  <a:pt x="2460684" y="-5519"/>
                  <a:pt x="2753885" y="-62993"/>
                  <a:pt x="2935224" y="0"/>
                </a:cubicBezTo>
                <a:cubicBezTo>
                  <a:pt x="3115119" y="56580"/>
                  <a:pt x="3535280" y="40687"/>
                  <a:pt x="3785616" y="0"/>
                </a:cubicBezTo>
                <a:cubicBezTo>
                  <a:pt x="4057881" y="25645"/>
                  <a:pt x="4308335" y="-2666"/>
                  <a:pt x="4636008" y="0"/>
                </a:cubicBezTo>
                <a:cubicBezTo>
                  <a:pt x="4987152" y="19805"/>
                  <a:pt x="5025979" y="14149"/>
                  <a:pt x="5239512" y="0"/>
                </a:cubicBezTo>
                <a:cubicBezTo>
                  <a:pt x="5437586" y="211"/>
                  <a:pt x="5752721" y="5618"/>
                  <a:pt x="6007608" y="0"/>
                </a:cubicBezTo>
                <a:cubicBezTo>
                  <a:pt x="6280137" y="-5132"/>
                  <a:pt x="6386079" y="-21510"/>
                  <a:pt x="6693408" y="0"/>
                </a:cubicBezTo>
                <a:cubicBezTo>
                  <a:pt x="6986580" y="4991"/>
                  <a:pt x="7015252" y="-18088"/>
                  <a:pt x="7296912" y="0"/>
                </a:cubicBezTo>
                <a:cubicBezTo>
                  <a:pt x="7569796" y="10390"/>
                  <a:pt x="7895472" y="71473"/>
                  <a:pt x="8229600" y="0"/>
                </a:cubicBezTo>
                <a:cubicBezTo>
                  <a:pt x="8229236" y="7266"/>
                  <a:pt x="8229919" y="9308"/>
                  <a:pt x="8229600" y="13716"/>
                </a:cubicBezTo>
                <a:cubicBezTo>
                  <a:pt x="8094333" y="-9824"/>
                  <a:pt x="7850928" y="32876"/>
                  <a:pt x="7626096" y="13716"/>
                </a:cubicBezTo>
                <a:cubicBezTo>
                  <a:pt x="7448378" y="-5141"/>
                  <a:pt x="7315174" y="-6416"/>
                  <a:pt x="7022592" y="13716"/>
                </a:cubicBezTo>
                <a:cubicBezTo>
                  <a:pt x="6686163" y="45927"/>
                  <a:pt x="6352629" y="18938"/>
                  <a:pt x="6172200" y="13716"/>
                </a:cubicBezTo>
                <a:cubicBezTo>
                  <a:pt x="6015590" y="37773"/>
                  <a:pt x="5770309" y="16706"/>
                  <a:pt x="5650992" y="13716"/>
                </a:cubicBezTo>
                <a:cubicBezTo>
                  <a:pt x="5483975" y="7520"/>
                  <a:pt x="5165324" y="64376"/>
                  <a:pt x="4882896" y="13716"/>
                </a:cubicBezTo>
                <a:cubicBezTo>
                  <a:pt x="4568934" y="2481"/>
                  <a:pt x="4556334" y="23104"/>
                  <a:pt x="4443984" y="13716"/>
                </a:cubicBezTo>
                <a:cubicBezTo>
                  <a:pt x="4320775" y="6004"/>
                  <a:pt x="4034988" y="-8062"/>
                  <a:pt x="3758184" y="13716"/>
                </a:cubicBezTo>
                <a:cubicBezTo>
                  <a:pt x="3445155" y="-5570"/>
                  <a:pt x="3367892" y="9252"/>
                  <a:pt x="3236976" y="13716"/>
                </a:cubicBezTo>
                <a:cubicBezTo>
                  <a:pt x="3093796" y="21836"/>
                  <a:pt x="2635824" y="19560"/>
                  <a:pt x="2386584" y="13716"/>
                </a:cubicBezTo>
                <a:cubicBezTo>
                  <a:pt x="2139815" y="-7869"/>
                  <a:pt x="2105958" y="21373"/>
                  <a:pt x="1947672" y="13716"/>
                </a:cubicBezTo>
                <a:cubicBezTo>
                  <a:pt x="1801011" y="-24483"/>
                  <a:pt x="1533636" y="10074"/>
                  <a:pt x="1261872" y="13716"/>
                </a:cubicBezTo>
                <a:cubicBezTo>
                  <a:pt x="989528" y="27655"/>
                  <a:pt x="1025848" y="10113"/>
                  <a:pt x="822960" y="13716"/>
                </a:cubicBezTo>
                <a:cubicBezTo>
                  <a:pt x="653456" y="16384"/>
                  <a:pt x="304027" y="3429"/>
                  <a:pt x="0" y="13716"/>
                </a:cubicBezTo>
                <a:cubicBezTo>
                  <a:pt x="326" y="10292"/>
                  <a:pt x="-17" y="5199"/>
                  <a:pt x="0" y="0"/>
                </a:cubicBezTo>
                <a:close/>
              </a:path>
              <a:path w="8229600" h="13716" fill="none" stroke="0" extrusionOk="0">
                <a:moveTo>
                  <a:pt x="0" y="0"/>
                </a:moveTo>
                <a:cubicBezTo>
                  <a:pt x="205130" y="6064"/>
                  <a:pt x="324007" y="6684"/>
                  <a:pt x="521208" y="0"/>
                </a:cubicBezTo>
                <a:cubicBezTo>
                  <a:pt x="695888" y="-14632"/>
                  <a:pt x="1101879" y="6017"/>
                  <a:pt x="1371600" y="0"/>
                </a:cubicBezTo>
                <a:cubicBezTo>
                  <a:pt x="1622968" y="4691"/>
                  <a:pt x="1936552" y="-7433"/>
                  <a:pt x="2221992" y="0"/>
                </a:cubicBezTo>
                <a:cubicBezTo>
                  <a:pt x="2498663" y="51226"/>
                  <a:pt x="2885875" y="-8757"/>
                  <a:pt x="3072384" y="0"/>
                </a:cubicBezTo>
                <a:cubicBezTo>
                  <a:pt x="3288944" y="24235"/>
                  <a:pt x="3331110" y="5443"/>
                  <a:pt x="3511296" y="0"/>
                </a:cubicBezTo>
                <a:cubicBezTo>
                  <a:pt x="3687973" y="-19690"/>
                  <a:pt x="3901025" y="-20092"/>
                  <a:pt x="4114800" y="0"/>
                </a:cubicBezTo>
                <a:cubicBezTo>
                  <a:pt x="4336102" y="32988"/>
                  <a:pt x="4416982" y="-5831"/>
                  <a:pt x="4553712" y="0"/>
                </a:cubicBezTo>
                <a:cubicBezTo>
                  <a:pt x="4674310" y="-5056"/>
                  <a:pt x="5080160" y="-12181"/>
                  <a:pt x="5239512" y="0"/>
                </a:cubicBezTo>
                <a:cubicBezTo>
                  <a:pt x="5419031" y="-38513"/>
                  <a:pt x="5691629" y="2226"/>
                  <a:pt x="5843016" y="0"/>
                </a:cubicBezTo>
                <a:cubicBezTo>
                  <a:pt x="5978317" y="-40553"/>
                  <a:pt x="6314754" y="9782"/>
                  <a:pt x="6611112" y="0"/>
                </a:cubicBezTo>
                <a:cubicBezTo>
                  <a:pt x="6973004" y="-17646"/>
                  <a:pt x="7175490" y="18489"/>
                  <a:pt x="7461504" y="0"/>
                </a:cubicBezTo>
                <a:cubicBezTo>
                  <a:pt x="7746737" y="-34159"/>
                  <a:pt x="7962178" y="39853"/>
                  <a:pt x="8229600" y="0"/>
                </a:cubicBezTo>
                <a:cubicBezTo>
                  <a:pt x="8228815" y="6665"/>
                  <a:pt x="8229309" y="10133"/>
                  <a:pt x="8229600" y="13716"/>
                </a:cubicBezTo>
                <a:cubicBezTo>
                  <a:pt x="7944174" y="-33676"/>
                  <a:pt x="7795646" y="-38977"/>
                  <a:pt x="7461504" y="13716"/>
                </a:cubicBezTo>
                <a:cubicBezTo>
                  <a:pt x="7129776" y="46515"/>
                  <a:pt x="7082769" y="26874"/>
                  <a:pt x="6940296" y="13716"/>
                </a:cubicBezTo>
                <a:cubicBezTo>
                  <a:pt x="6799665" y="-20447"/>
                  <a:pt x="6652769" y="27211"/>
                  <a:pt x="6419088" y="13716"/>
                </a:cubicBezTo>
                <a:cubicBezTo>
                  <a:pt x="6143970" y="47703"/>
                  <a:pt x="5863165" y="-21103"/>
                  <a:pt x="5650992" y="13716"/>
                </a:cubicBezTo>
                <a:cubicBezTo>
                  <a:pt x="5419172" y="36034"/>
                  <a:pt x="5309448" y="-4977"/>
                  <a:pt x="5129784" y="13716"/>
                </a:cubicBezTo>
                <a:cubicBezTo>
                  <a:pt x="4947928" y="21451"/>
                  <a:pt x="4795021" y="1288"/>
                  <a:pt x="4690872" y="13716"/>
                </a:cubicBezTo>
                <a:cubicBezTo>
                  <a:pt x="4564358" y="-14151"/>
                  <a:pt x="4295485" y="-29852"/>
                  <a:pt x="4087368" y="13716"/>
                </a:cubicBezTo>
                <a:cubicBezTo>
                  <a:pt x="3871704" y="35834"/>
                  <a:pt x="3732927" y="-15470"/>
                  <a:pt x="3401568" y="13716"/>
                </a:cubicBezTo>
                <a:cubicBezTo>
                  <a:pt x="3075889" y="15088"/>
                  <a:pt x="3025898" y="39828"/>
                  <a:pt x="2798064" y="13716"/>
                </a:cubicBezTo>
                <a:cubicBezTo>
                  <a:pt x="2581856" y="-25441"/>
                  <a:pt x="2428311" y="-9472"/>
                  <a:pt x="2276856" y="13716"/>
                </a:cubicBezTo>
                <a:cubicBezTo>
                  <a:pt x="2098246" y="48711"/>
                  <a:pt x="1737531" y="51387"/>
                  <a:pt x="1426464" y="13716"/>
                </a:cubicBezTo>
                <a:cubicBezTo>
                  <a:pt x="1104708" y="21917"/>
                  <a:pt x="1006595" y="11356"/>
                  <a:pt x="740664" y="13716"/>
                </a:cubicBezTo>
                <a:cubicBezTo>
                  <a:pt x="480378" y="28512"/>
                  <a:pt x="202592" y="-16929"/>
                  <a:pt x="0" y="13716"/>
                </a:cubicBezTo>
                <a:cubicBezTo>
                  <a:pt x="244" y="8978"/>
                  <a:pt x="436" y="6414"/>
                  <a:pt x="0" y="0"/>
                </a:cubicBezTo>
                <a:close/>
              </a:path>
            </a:pathLst>
          </a:custGeom>
          <a:solidFill>
            <a:schemeClr val="accent2">
              <a:alpha val="75000"/>
            </a:schemeClr>
          </a:solidFill>
          <a:ln w="44450" cap="rnd">
            <a:solidFill>
              <a:schemeClr val="accent2">
                <a:alpha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29369" y="1553487"/>
            <a:ext cx="5035164" cy="3089379"/>
          </a:xfr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400" b="0" i="0" kern="1200" dirty="0">
                <a:solidFill>
                  <a:schemeClr val="tx1"/>
                </a:solidFill>
                <a:effectLst/>
                <a:latin typeface="+mn-lt"/>
                <a:ea typeface="+mn-ea"/>
                <a:cs typeface="+mn-cs"/>
              </a:rPr>
              <a:t>"</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Offering strategic entry and exit points for investment to a brokerage firm by interpreting data visualizations in Tableau, which are generated after conducting the following analyses:</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Initial exploration of the dataset to understand underlying patterns and also did sector Wise Analysis.</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Analyzing patterns that occur at regular intervals (seasonality) and long-term repetitive patterns (cyclic trends).</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Executing technical analysis by observing the direction of the stock movement over short (30 days) and long (365 days) periods, trading volumes, price instability, and momentum indicators such as the Moving Average Convergence Divergence (MACD)."</a:t>
            </a:r>
            <a:endParaRPr lang="en-US" sz="1400" b="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400" kern="1200" dirty="0">
              <a:solidFill>
                <a:schemeClr val="tx1"/>
              </a:solidFill>
              <a:latin typeface="+mn-lt"/>
              <a:ea typeface="+mn-ea"/>
              <a:cs typeface="+mn-cs"/>
            </a:endParaRPr>
          </a:p>
        </p:txBody>
      </p:sp>
      <p:pic>
        <p:nvPicPr>
          <p:cNvPr id="1026" name="Picture 2" descr="Brokerage Firm Definition &amp; Services - Video &amp; Lesson Transcript | Study.com"/>
          <p:cNvPicPr>
            <a:picLocks noChangeAspect="1" noChangeArrowheads="1"/>
          </p:cNvPicPr>
          <p:nvPr/>
        </p:nvPicPr>
        <p:blipFill rotWithShape="1">
          <a:blip r:embed="rId1">
            <a:extLst>
              <a:ext uri="{28A0092B-C50C-407E-A947-70E740481C1C}">
                <a14:useLocalDpi xmlns:a14="http://schemas.microsoft.com/office/drawing/2010/main" val="0"/>
              </a:ext>
            </a:extLst>
          </a:blip>
          <a:srcRect l="30766" r="15118"/>
          <a:stretch>
            <a:fillRect/>
          </a:stretch>
        </p:blipFill>
        <p:spPr bwMode="auto">
          <a:xfrm>
            <a:off x="5756743" y="1570482"/>
            <a:ext cx="2955798" cy="307238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idx="12"/>
          </p:nvPr>
        </p:nvSpPr>
        <p:spPr>
          <a:xfrm>
            <a:off x="6457950" y="4767262"/>
            <a:ext cx="2057400" cy="273844"/>
          </a:xfrm>
        </p:spPr>
        <p:txBody>
          <a:bodyPr vert="horz" lIns="91440" tIns="45720" rIns="91440" bIns="45720" rtlCol="0" anchor="ctr">
            <a:normAutofit/>
          </a:bodyPr>
          <a:lstStyle/>
          <a:p>
            <a:pPr>
              <a:lnSpc>
                <a:spcPct val="90000"/>
              </a:lnSpc>
              <a:spcAft>
                <a:spcPts val="600"/>
              </a:spcAft>
              <a:buClrTx/>
              <a:defRPr/>
            </a:pPr>
            <a:fld id="{00000000-1234-1234-1234-123412341234}" type="slidenum">
              <a:rPr lang="en-US" sz="700" kern="1200" smtClean="0">
                <a:solidFill>
                  <a:prstClr val="black">
                    <a:tint val="75000"/>
                  </a:prstClr>
                </a:solidFill>
                <a:latin typeface="Calibri" panose="020F0502020204030204"/>
                <a:ea typeface="+mn-ea"/>
                <a:cs typeface="+mn-cs"/>
              </a:rPr>
            </a:fld>
            <a:endParaRPr lang="en-US" sz="700" kern="1200">
              <a:solidFill>
                <a:prstClr val="black">
                  <a:tint val="75000"/>
                </a:prstClr>
              </a:solidFill>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6900" y="6497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sz="2400" dirty="0">
                <a:latin typeface="Times New Roman" panose="02020603050405020304" pitchFamily="18" charset="0"/>
                <a:cs typeface="Times New Roman" panose="02020603050405020304" pitchFamily="18" charset="0"/>
              </a:rPr>
              <a:t>Data Sources and Collection:</a:t>
            </a:r>
            <a:endParaRPr sz="2400" dirty="0">
              <a:latin typeface="Times New Roman" panose="02020603050405020304" pitchFamily="18" charset="0"/>
              <a:cs typeface="Times New Roman" panose="02020603050405020304" pitchFamily="18" charset="0"/>
            </a:endParaRPr>
          </a:p>
        </p:txBody>
      </p:sp>
      <p:sp>
        <p:nvSpPr>
          <p:cNvPr id="95" name="Google Shape;95;p18"/>
          <p:cNvSpPr txBox="1">
            <a:spLocks noGrp="1"/>
          </p:cNvSpPr>
          <p:nvPr>
            <p:ph type="body" idx="1"/>
          </p:nvPr>
        </p:nvSpPr>
        <p:spPr>
          <a:xfrm>
            <a:off x="176530" y="1705610"/>
            <a:ext cx="8520430" cy="1013460"/>
          </a:xfrm>
          <a:prstGeom prst="rect">
            <a:avLst/>
          </a:prstGeom>
        </p:spPr>
        <p:txBody>
          <a:bodyPr spcFirstLastPara="1" wrap="square" lIns="91425" tIns="91425" rIns="91425" bIns="91425" anchor="t" anchorCtr="0">
            <a:noAutofit/>
          </a:bodyPr>
          <a:lstStyle/>
          <a:p>
            <a:r>
              <a:rPr lang="en-US" altLang="en-GB" sz="1200" dirty="0">
                <a:solidFill>
                  <a:schemeClr val="tx1"/>
                </a:solidFill>
                <a:latin typeface="Times New Roman" panose="02020603050405020304" pitchFamily="18" charset="0"/>
                <a:cs typeface="Times New Roman" panose="02020603050405020304" pitchFamily="18" charset="0"/>
              </a:rPr>
              <a:t>Data from </a:t>
            </a:r>
            <a:r>
              <a:rPr lang="en-US" altLang="en-GB" sz="1200" dirty="0" err="1">
                <a:solidFill>
                  <a:schemeClr val="tx1"/>
                </a:solidFill>
                <a:latin typeface="Times New Roman" panose="02020603050405020304" pitchFamily="18" charset="0"/>
                <a:cs typeface="Times New Roman" panose="02020603050405020304" pitchFamily="18" charset="0"/>
              </a:rPr>
              <a:t>kaggle</a:t>
            </a:r>
            <a:r>
              <a:rPr lang="en-US" altLang="en-GB" sz="1200" dirty="0">
                <a:solidFill>
                  <a:schemeClr val="tx1"/>
                </a:solidFill>
                <a:latin typeface="Times New Roman" panose="02020603050405020304" pitchFamily="18" charset="0"/>
                <a:cs typeface="Times New Roman" panose="02020603050405020304" pitchFamily="18" charset="0"/>
              </a:rPr>
              <a:t>  https://</a:t>
            </a:r>
            <a:r>
              <a:rPr lang="en-US" altLang="en-GB" sz="1200" dirty="0" err="1">
                <a:solidFill>
                  <a:schemeClr val="tx1"/>
                </a:solidFill>
                <a:latin typeface="Times New Roman" panose="02020603050405020304" pitchFamily="18" charset="0"/>
                <a:cs typeface="Times New Roman" panose="02020603050405020304" pitchFamily="18" charset="0"/>
              </a:rPr>
              <a:t>www.kaggle.com</a:t>
            </a:r>
            <a:r>
              <a:rPr lang="en-US" altLang="en-GB" sz="1200" dirty="0">
                <a:solidFill>
                  <a:schemeClr val="tx1"/>
                </a:solidFill>
                <a:latin typeface="Times New Roman" panose="02020603050405020304" pitchFamily="18" charset="0"/>
                <a:cs typeface="Times New Roman" panose="02020603050405020304" pitchFamily="18" charset="0"/>
              </a:rPr>
              <a:t>/datasets/</a:t>
            </a:r>
            <a:r>
              <a:rPr lang="en-US" altLang="en-GB" sz="1200" dirty="0" err="1">
                <a:solidFill>
                  <a:schemeClr val="tx1"/>
                </a:solidFill>
                <a:latin typeface="Times New Roman" panose="02020603050405020304" pitchFamily="18" charset="0"/>
                <a:cs typeface="Times New Roman" panose="02020603050405020304" pitchFamily="18" charset="0"/>
              </a:rPr>
              <a:t>paultimothymooney</a:t>
            </a:r>
            <a:r>
              <a:rPr lang="en-US" altLang="en-GB" sz="1200" dirty="0">
                <a:solidFill>
                  <a:schemeClr val="tx1"/>
                </a:solidFill>
                <a:latin typeface="Times New Roman" panose="02020603050405020304" pitchFamily="18" charset="0"/>
                <a:cs typeface="Times New Roman" panose="02020603050405020304" pitchFamily="18" charset="0"/>
              </a:rPr>
              <a:t>/stock-market-data</a:t>
            </a:r>
            <a:endParaRPr lang="en-GB" sz="1200" dirty="0">
              <a:solidFill>
                <a:schemeClr val="tx1"/>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Char char="●"/>
            </a:pPr>
            <a:r>
              <a:rPr lang="en-GB" sz="1200" dirty="0">
                <a:solidFill>
                  <a:schemeClr val="tx1"/>
                </a:solidFill>
                <a:latin typeface="Times New Roman" panose="02020603050405020304" pitchFamily="18" charset="0"/>
                <a:cs typeface="Times New Roman" panose="02020603050405020304" pitchFamily="18" charset="0"/>
              </a:rPr>
              <a:t>Free API's provided by </a:t>
            </a:r>
            <a:r>
              <a:rPr lang="en-GB" sz="1200" dirty="0" err="1">
                <a:solidFill>
                  <a:schemeClr val="tx1"/>
                </a:solidFill>
                <a:latin typeface="Times New Roman" panose="02020603050405020304" pitchFamily="18" charset="0"/>
                <a:cs typeface="Times New Roman" panose="02020603050405020304" pitchFamily="18" charset="0"/>
              </a:rPr>
              <a:t>tewlve</a:t>
            </a:r>
            <a:r>
              <a:rPr lang="en-GB" sz="1200" dirty="0">
                <a:solidFill>
                  <a:schemeClr val="tx1"/>
                </a:solidFill>
                <a:latin typeface="Times New Roman" panose="02020603050405020304" pitchFamily="18" charset="0"/>
                <a:cs typeface="Times New Roman" panose="02020603050405020304" pitchFamily="18" charset="0"/>
              </a:rPr>
              <a:t>-data https://twelve-data1.p.rapidapi.com/</a:t>
            </a:r>
            <a:endParaRPr lang="en-GB" sz="1200" dirty="0">
              <a:solidFill>
                <a:schemeClr val="tx1"/>
              </a:solidFill>
              <a:latin typeface="Times New Roman" panose="02020603050405020304" pitchFamily="18" charset="0"/>
              <a:cs typeface="Times New Roman" panose="02020603050405020304" pitchFamily="18" charset="0"/>
            </a:endParaRPr>
          </a:p>
          <a:p>
            <a:pPr marL="457200" lvl="0" indent="-342900" algn="l" rtl="0">
              <a:spcBef>
                <a:spcPts val="0"/>
              </a:spcBef>
              <a:spcAft>
                <a:spcPts val="0"/>
              </a:spcAft>
              <a:buSzPts val="1800"/>
              <a:buChar char="●"/>
            </a:pPr>
            <a:r>
              <a:rPr lang="en-GB" sz="1200" dirty="0">
                <a:solidFill>
                  <a:schemeClr val="tx1"/>
                </a:solidFill>
                <a:latin typeface="Times New Roman" panose="02020603050405020304" pitchFamily="18" charset="0"/>
                <a:cs typeface="Times New Roman" panose="02020603050405020304" pitchFamily="18" charset="0"/>
              </a:rPr>
              <a:t>Free API's provided by </a:t>
            </a:r>
            <a:r>
              <a:rPr lang="en-GB" sz="1200" dirty="0" err="1">
                <a:solidFill>
                  <a:schemeClr val="tx1"/>
                </a:solidFill>
                <a:latin typeface="Times New Roman" panose="02020603050405020304" pitchFamily="18" charset="0"/>
                <a:cs typeface="Times New Roman" panose="02020603050405020304" pitchFamily="18" charset="0"/>
              </a:rPr>
              <a:t>yh</a:t>
            </a:r>
            <a:r>
              <a:rPr lang="en-GB" sz="1200" dirty="0">
                <a:solidFill>
                  <a:schemeClr val="tx1"/>
                </a:solidFill>
                <a:latin typeface="Times New Roman" panose="02020603050405020304" pitchFamily="18" charset="0"/>
                <a:cs typeface="Times New Roman" panose="02020603050405020304" pitchFamily="18" charset="0"/>
              </a:rPr>
              <a:t>-finance https://</a:t>
            </a:r>
            <a:r>
              <a:rPr lang="en-GB" sz="1200" dirty="0" err="1">
                <a:solidFill>
                  <a:schemeClr val="tx1"/>
                </a:solidFill>
                <a:latin typeface="Times New Roman" panose="02020603050405020304" pitchFamily="18" charset="0"/>
                <a:cs typeface="Times New Roman" panose="02020603050405020304" pitchFamily="18" charset="0"/>
              </a:rPr>
              <a:t>yh</a:t>
            </a:r>
            <a:r>
              <a:rPr lang="en-GB" sz="1200" dirty="0">
                <a:solidFill>
                  <a:schemeClr val="tx1"/>
                </a:solidFill>
                <a:latin typeface="Times New Roman" panose="02020603050405020304" pitchFamily="18" charset="0"/>
                <a:cs typeface="Times New Roman" panose="02020603050405020304" pitchFamily="18" charset="0"/>
              </a:rPr>
              <a:t>-finance-</a:t>
            </a:r>
            <a:r>
              <a:rPr lang="en-GB" sz="1200" dirty="0" err="1">
                <a:solidFill>
                  <a:schemeClr val="tx1"/>
                </a:solidFill>
                <a:latin typeface="Times New Roman" panose="02020603050405020304" pitchFamily="18" charset="0"/>
                <a:cs typeface="Times New Roman" panose="02020603050405020304" pitchFamily="18" charset="0"/>
              </a:rPr>
              <a:t>complete.p.rapidapi.com</a:t>
            </a:r>
            <a:r>
              <a:rPr lang="en-GB" sz="1200" dirty="0">
                <a:solidFill>
                  <a:schemeClr val="tx1"/>
                </a:solidFill>
                <a:latin typeface="Times New Roman" panose="02020603050405020304" pitchFamily="18" charset="0"/>
                <a:cs typeface="Times New Roman" panose="02020603050405020304" pitchFamily="18" charset="0"/>
              </a:rPr>
              <a:t>/</a:t>
            </a:r>
            <a:endParaRPr lang="en-GB" sz="1200" dirty="0">
              <a:solidFill>
                <a:schemeClr val="tx1"/>
              </a:solidFill>
              <a:latin typeface="Times New Roman" panose="02020603050405020304" pitchFamily="18" charset="0"/>
              <a:cs typeface="Times New Roman" panose="02020603050405020304" pitchFamily="18" charset="0"/>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fld>
            <a:endParaRPr lang="en-GB"/>
          </a:p>
        </p:txBody>
      </p:sp>
      <p:sp>
        <p:nvSpPr>
          <p:cNvPr id="3" name="Google Shape;96;p18"/>
          <p:cNvSpPr txBox="1"/>
          <p:nvPr/>
        </p:nvSpPr>
        <p:spPr>
          <a:xfrm>
            <a:off x="8599458" y="4790217"/>
            <a:ext cx="548700" cy="393600"/>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R="0" lvl="1"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R="0" lvl="2"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R="0" lvl="3"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R="0" lvl="4"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R="0" lvl="5"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R="0" lvl="6"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R="0" lvl="7"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R="0" lvl="8" algn="r" rtl="0">
              <a:lnSpc>
                <a:spcPct val="100000"/>
              </a:lnSpc>
              <a:spcBef>
                <a:spcPts val="0"/>
              </a:spcBef>
              <a:spcAft>
                <a:spcPts val="0"/>
              </a:spcAft>
              <a:buClr>
                <a:srgbClr val="000000"/>
              </a:buClr>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6" name="Text Box 5"/>
          <p:cNvSpPr txBox="1"/>
          <p:nvPr/>
        </p:nvSpPr>
        <p:spPr>
          <a:xfrm>
            <a:off x="210185" y="2701932"/>
            <a:ext cx="7726807" cy="2088285"/>
          </a:xfrm>
          <a:prstGeom prst="rect">
            <a:avLst/>
          </a:prstGeom>
          <a:noFill/>
        </p:spPr>
        <p:txBody>
          <a:bodyPr wrap="square" rtlCol="0">
            <a:noAutofit/>
          </a:bodyPr>
          <a:lstStyle/>
          <a:p>
            <a:r>
              <a:rPr lang="en-IN" altLang="en-US" sz="1200" dirty="0">
                <a:latin typeface="Times New Roman" panose="02020603050405020304" pitchFamily="18" charset="0"/>
                <a:cs typeface="Times New Roman" panose="02020603050405020304" pitchFamily="18" charset="0"/>
              </a:rPr>
              <a:t>Data Collection Methods:</a:t>
            </a:r>
            <a:endParaRPr lang="en-IN" altLang="en-US" sz="1200" dirty="0">
              <a:latin typeface="Times New Roman" panose="02020603050405020304" pitchFamily="18" charset="0"/>
              <a:cs typeface="Times New Roman" panose="02020603050405020304" pitchFamily="18" charset="0"/>
            </a:endParaRPr>
          </a:p>
          <a:p>
            <a:endParaRPr lang="en-IN" alt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Our primary data originates from CSV files, complemented by stock data obtained through API keys sourced from Alpha Vantage and Yahoo Finance.</a:t>
            </a: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Combined information from CSV files and APIs, smoothly blending both datasets into MongoDB Atlas. Now, we have a consolidated database ready for thorough analysis and smarter business moves.</a:t>
            </a: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Established a connection to Databricks using the MongoDB Connector, enabling comprehensive data analysis.</a:t>
            </a: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Facilitated smooth data transfer to Tableau, enhancing visualization and exploration capabilities.</a:t>
            </a:r>
            <a:endParaRPr lang="en-US" sz="1200" dirty="0">
              <a:latin typeface="Times New Roman" panose="02020603050405020304" pitchFamily="18" charset="0"/>
              <a:cs typeface="Times New Roman" panose="02020603050405020304" pitchFamily="18" charset="0"/>
            </a:endParaRPr>
          </a:p>
          <a:p>
            <a:r>
              <a:rPr lang="en-IN" altLang="en-US" sz="16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a:p>
            <a:r>
              <a:rPr lang="en-IN" altLang="en-US" sz="1200" dirty="0">
                <a:latin typeface="Times New Roman" panose="02020603050405020304" pitchFamily="18" charset="0"/>
                <a:cs typeface="Times New Roman" panose="02020603050405020304" pitchFamily="18" charset="0"/>
              </a:rPr>
              <a:t>Challenges Faced : data quality, </a:t>
            </a:r>
            <a:r>
              <a:rPr lang="en-IN" altLang="en-US" sz="1200" dirty="0" err="1">
                <a:latin typeface="Times New Roman" panose="02020603050405020304" pitchFamily="18" charset="0"/>
                <a:cs typeface="Times New Roman" panose="02020603050405020304" pitchFamily="18" charset="0"/>
              </a:rPr>
              <a:t>api</a:t>
            </a:r>
            <a:r>
              <a:rPr lang="en-IN" altLang="en-US" sz="1200" dirty="0">
                <a:latin typeface="Times New Roman" panose="02020603050405020304" pitchFamily="18" charset="0"/>
                <a:cs typeface="Times New Roman" panose="02020603050405020304" pitchFamily="18" charset="0"/>
              </a:rPr>
              <a:t> reliability, Rate limiting.</a:t>
            </a:r>
            <a:endParaRPr lang="en-IN" altLang="en-US" sz="1200" dirty="0">
              <a:latin typeface="Times New Roman" panose="02020603050405020304" pitchFamily="18" charset="0"/>
              <a:cs typeface="Times New Roman" panose="02020603050405020304" pitchFamily="18" charset="0"/>
            </a:endParaRPr>
          </a:p>
        </p:txBody>
      </p:sp>
      <p:sp>
        <p:nvSpPr>
          <p:cNvPr id="4" name="Google Shape;94;p18"/>
          <p:cNvSpPr txBox="1"/>
          <p:nvPr/>
        </p:nvSpPr>
        <p:spPr>
          <a:xfrm>
            <a:off x="176530" y="1291590"/>
            <a:ext cx="8613775" cy="41402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r>
              <a:rPr lang="en-US" sz="1600" dirty="0">
                <a:latin typeface="Times New Roman" panose="02020603050405020304" pitchFamily="18" charset="0"/>
                <a:cs typeface="Times New Roman" panose="02020603050405020304" pitchFamily="18" charset="0"/>
              </a:rPr>
              <a:t>Data Sources:</a:t>
            </a:r>
            <a:endParaRPr lang="en-US" sz="1600" dirty="0">
              <a:latin typeface="Times New Roman" panose="02020603050405020304" pitchFamily="18" charset="0"/>
              <a:cs typeface="Times New Roman" panose="02020603050405020304" pitchFamily="18" charset="0"/>
            </a:endParaRPr>
          </a:p>
        </p:txBody>
      </p:sp>
      <p:sp>
        <p:nvSpPr>
          <p:cNvPr id="7170" name="AutoShape 2" descr="Kaggl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7172" name="AutoShape 4" descr="Kaggle - Wikipedi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7174" name="Picture 6" descr="Kaggle - Wikipedia"/>
          <p:cNvPicPr>
            <a:picLocks noChangeAspect="1" noChangeArrowheads="1"/>
          </p:cNvPicPr>
          <p:nvPr/>
        </p:nvPicPr>
        <p:blipFill>
          <a:blip r:embed="rId1"/>
          <a:srcRect/>
          <a:stretch>
            <a:fillRect/>
          </a:stretch>
        </p:blipFill>
        <p:spPr bwMode="auto">
          <a:xfrm>
            <a:off x="6689459" y="1250732"/>
            <a:ext cx="1645245" cy="536028"/>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latin typeface="Times New Roman" panose="02020603050405020304" pitchFamily="18" charset="0"/>
                <a:cs typeface="Times New Roman" panose="02020603050405020304" pitchFamily="18" charset="0"/>
              </a:rPr>
              <a:t>Tools and Technologies used:</a:t>
            </a:r>
            <a:endParaRPr lang="en-US" sz="24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311700" y="1222449"/>
            <a:ext cx="8520600" cy="3834367"/>
          </a:xfrm>
        </p:spPr>
        <p:txBody>
          <a:bodyPr/>
          <a:lstStyle/>
          <a:p>
            <a:pPr algn="l">
              <a:buFont typeface="+mj-lt"/>
              <a:buAutoNum type="arabicPeriod"/>
            </a:pPr>
            <a:r>
              <a:rPr lang="en-US" sz="1200" b="1" i="0" dirty="0">
                <a:solidFill>
                  <a:srgbClr val="374151"/>
                </a:solidFill>
                <a:effectLst/>
                <a:latin typeface="Times New Roman" panose="02020603050405020304" pitchFamily="18" charset="0"/>
                <a:cs typeface="Times New Roman" panose="02020603050405020304" pitchFamily="18" charset="0"/>
              </a:rPr>
              <a:t>MongoDB</a:t>
            </a:r>
            <a:r>
              <a:rPr lang="en-IN" altLang="en-US" sz="1200" b="1" i="0" dirty="0">
                <a:solidFill>
                  <a:srgbClr val="374151"/>
                </a:solidFill>
                <a:effectLst/>
                <a:latin typeface="Times New Roman" panose="02020603050405020304" pitchFamily="18" charset="0"/>
                <a:cs typeface="Times New Roman" panose="02020603050405020304" pitchFamily="18" charset="0"/>
              </a:rPr>
              <a:t> ATLAS</a:t>
            </a:r>
            <a:r>
              <a:rPr lang="en-US" sz="1200" b="0" i="0" dirty="0">
                <a:solidFill>
                  <a:srgbClr val="374151"/>
                </a:solidFill>
                <a:effectLst/>
                <a:latin typeface="Times New Roman" panose="02020603050405020304" pitchFamily="18" charset="0"/>
                <a:cs typeface="Times New Roman" panose="02020603050405020304" pitchFamily="18" charset="0"/>
              </a:rPr>
              <a:t>: As a NoSQL database, MongoDB is excellent for handling large volumes of data, which is common in stock market analysis. It's flexible and allows for the efficient storage and retrieval of varied data types that are typical in the stock market, such as time series data, real-time data feeds, and historical records.</a:t>
            </a:r>
            <a:endParaRPr lang="en-US" sz="1200" b="0" i="0" dirty="0">
              <a:solidFill>
                <a:srgbClr val="374151"/>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1200" b="1" i="0" dirty="0" err="1">
                <a:solidFill>
                  <a:srgbClr val="374151"/>
                </a:solidFill>
                <a:effectLst/>
                <a:latin typeface="Times New Roman" panose="02020603050405020304" pitchFamily="18" charset="0"/>
                <a:cs typeface="Times New Roman" panose="02020603050405020304" pitchFamily="18" charset="0"/>
              </a:rPr>
              <a:t>PySpark</a:t>
            </a:r>
            <a:r>
              <a:rPr lang="en-US" sz="1200" b="0" i="0" dirty="0">
                <a:solidFill>
                  <a:srgbClr val="374151"/>
                </a:solidFill>
                <a:effectLst/>
                <a:latin typeface="Times New Roman" panose="02020603050405020304" pitchFamily="18" charset="0"/>
                <a:cs typeface="Times New Roman" panose="02020603050405020304" pitchFamily="18" charset="0"/>
              </a:rPr>
              <a:t>:  </a:t>
            </a:r>
            <a:r>
              <a:rPr lang="en-US" sz="1200" b="0" i="0" dirty="0" err="1">
                <a:solidFill>
                  <a:srgbClr val="374151"/>
                </a:solidFill>
                <a:effectLst/>
                <a:latin typeface="Times New Roman" panose="02020603050405020304" pitchFamily="18" charset="0"/>
                <a:cs typeface="Times New Roman" panose="02020603050405020304" pitchFamily="18" charset="0"/>
              </a:rPr>
              <a:t>PySpark</a:t>
            </a:r>
            <a:r>
              <a:rPr lang="en-US" sz="1200" b="0" i="0" dirty="0">
                <a:solidFill>
                  <a:srgbClr val="374151"/>
                </a:solidFill>
                <a:effectLst/>
                <a:latin typeface="Times New Roman" panose="02020603050405020304" pitchFamily="18" charset="0"/>
                <a:cs typeface="Times New Roman" panose="02020603050405020304" pitchFamily="18" charset="0"/>
              </a:rPr>
              <a:t>, the Python API for Apache Spark, is instrumental in handling large-scale data processing. In the context of stock market analysis, </a:t>
            </a:r>
            <a:r>
              <a:rPr lang="en-US" sz="1200" b="0" i="0" dirty="0" err="1">
                <a:solidFill>
                  <a:srgbClr val="374151"/>
                </a:solidFill>
                <a:effectLst/>
                <a:latin typeface="Times New Roman" panose="02020603050405020304" pitchFamily="18" charset="0"/>
                <a:cs typeface="Times New Roman" panose="02020603050405020304" pitchFamily="18" charset="0"/>
              </a:rPr>
              <a:t>PySpark</a:t>
            </a:r>
            <a:r>
              <a:rPr lang="en-US" sz="1200" b="0" i="0" dirty="0">
                <a:solidFill>
                  <a:srgbClr val="374151"/>
                </a:solidFill>
                <a:effectLst/>
                <a:latin typeface="Times New Roman" panose="02020603050405020304" pitchFamily="18" charset="0"/>
                <a:cs typeface="Times New Roman" panose="02020603050405020304" pitchFamily="18" charset="0"/>
              </a:rPr>
              <a:t> can be used to process and analyze large datasets quickly. It's particularly useful for complex computational tasks like algorithmic trading, predictive analysis, and pattern recognition in large datasets.</a:t>
            </a:r>
            <a:endParaRPr lang="en-US" sz="1200" b="0" i="0" dirty="0">
              <a:solidFill>
                <a:srgbClr val="374151"/>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1200" b="1" i="0" dirty="0">
                <a:solidFill>
                  <a:srgbClr val="374151"/>
                </a:solidFill>
                <a:effectLst/>
                <a:latin typeface="Times New Roman" panose="02020603050405020304" pitchFamily="18" charset="0"/>
                <a:cs typeface="Times New Roman" panose="02020603050405020304" pitchFamily="18" charset="0"/>
              </a:rPr>
              <a:t>Tableau</a:t>
            </a:r>
            <a:r>
              <a:rPr lang="en-US" sz="1200" b="0" i="0" dirty="0">
                <a:solidFill>
                  <a:srgbClr val="374151"/>
                </a:solidFill>
                <a:effectLst/>
                <a:latin typeface="Times New Roman" panose="02020603050405020304" pitchFamily="18" charset="0"/>
                <a:cs typeface="Times New Roman" panose="02020603050405020304" pitchFamily="18" charset="0"/>
              </a:rPr>
              <a:t>: Tableau is a powerful data visualization tool. In stock market analysis, visualizations are crucial for interpreting complex data and identifying trends, patterns, and correlations. </a:t>
            </a:r>
            <a:endParaRPr lang="en-US" sz="1200" b="0" i="0" dirty="0">
              <a:solidFill>
                <a:srgbClr val="374151"/>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1200" b="1" i="0" dirty="0">
                <a:solidFill>
                  <a:srgbClr val="374151"/>
                </a:solidFill>
                <a:effectLst/>
                <a:latin typeface="Times New Roman" panose="02020603050405020304" pitchFamily="18" charset="0"/>
                <a:cs typeface="Times New Roman" panose="02020603050405020304" pitchFamily="18" charset="0"/>
              </a:rPr>
              <a:t>Databricks</a:t>
            </a:r>
            <a:r>
              <a:rPr lang="en-US" sz="1200" b="1" i="0" dirty="0">
                <a:solidFill>
                  <a:srgbClr val="374151"/>
                </a:solidFill>
                <a:effectLst/>
                <a:latin typeface="Söhne"/>
              </a:rPr>
              <a:t>: </a:t>
            </a:r>
            <a:r>
              <a:rPr lang="en-US" sz="1200" b="0" i="0" dirty="0">
                <a:solidFill>
                  <a:srgbClr val="374151"/>
                </a:solidFill>
                <a:effectLst/>
                <a:latin typeface="Times New Roman" panose="02020603050405020304" pitchFamily="18" charset="0"/>
                <a:cs typeface="Times New Roman" panose="02020603050405020304" pitchFamily="18" charset="0"/>
              </a:rPr>
              <a:t>Databricks is a data and AI company that offers a unified data analytics platform. It is designed to make it easier for businesses to work with large amounts of data in a collaborative and interactive environment. </a:t>
            </a:r>
            <a:endParaRPr lang="en-US" sz="1200" b="0" i="0" dirty="0">
              <a:solidFill>
                <a:srgbClr val="374151"/>
              </a:solidFill>
              <a:effectLst/>
              <a:latin typeface="Times New Roman" panose="02020603050405020304" pitchFamily="18" charset="0"/>
              <a:cs typeface="Times New Roman" panose="02020603050405020304" pitchFamily="18" charset="0"/>
            </a:endParaRPr>
          </a:p>
          <a:p>
            <a:pPr>
              <a:lnSpc>
                <a:spcPct val="150000"/>
              </a:lnSpc>
            </a:pPr>
            <a:endParaRPr lang="en-IN" altLang="en-US" sz="1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pic>
        <p:nvPicPr>
          <p:cNvPr id="5124" name="Picture 4" descr="MongoDB - Crunchbase Company Profile &amp; Funding"/>
          <p:cNvPicPr>
            <a:picLocks noChangeAspect="1" noChangeArrowheads="1"/>
          </p:cNvPicPr>
          <p:nvPr/>
        </p:nvPicPr>
        <p:blipFill>
          <a:blip r:embed="rId1"/>
          <a:srcRect/>
          <a:stretch>
            <a:fillRect/>
          </a:stretch>
        </p:blipFill>
        <p:spPr bwMode="auto">
          <a:xfrm>
            <a:off x="639178" y="3696417"/>
            <a:ext cx="1264416" cy="1264416"/>
          </a:xfrm>
          <a:prstGeom prst="rect">
            <a:avLst/>
          </a:prstGeom>
          <a:noFill/>
        </p:spPr>
      </p:pic>
      <p:pic>
        <p:nvPicPr>
          <p:cNvPr id="5126" name="Picture 6" descr="File:Tableau Logo.png - Wikipedia"/>
          <p:cNvPicPr>
            <a:picLocks noChangeAspect="1" noChangeArrowheads="1"/>
          </p:cNvPicPr>
          <p:nvPr/>
        </p:nvPicPr>
        <p:blipFill>
          <a:blip r:embed="rId2"/>
          <a:srcRect/>
          <a:stretch>
            <a:fillRect/>
          </a:stretch>
        </p:blipFill>
        <p:spPr bwMode="auto">
          <a:xfrm>
            <a:off x="6020704" y="3792651"/>
            <a:ext cx="2726104" cy="833882"/>
          </a:xfrm>
          <a:prstGeom prst="rect">
            <a:avLst/>
          </a:prstGeom>
          <a:noFill/>
        </p:spPr>
      </p:pic>
      <p:pic>
        <p:nvPicPr>
          <p:cNvPr id="5128" name="Picture 8" descr="A Practical Introduction to PySpark | by Mihir Gandhi | Sep, 2023 | Towards  AI"/>
          <p:cNvPicPr>
            <a:picLocks noChangeAspect="1" noChangeArrowheads="1"/>
          </p:cNvPicPr>
          <p:nvPr/>
        </p:nvPicPr>
        <p:blipFill>
          <a:blip r:embed="rId3"/>
          <a:srcRect/>
          <a:stretch>
            <a:fillRect/>
          </a:stretch>
        </p:blipFill>
        <p:spPr bwMode="auto">
          <a:xfrm>
            <a:off x="2716673" y="3531394"/>
            <a:ext cx="2490952" cy="1426123"/>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sp>
        <p:nvSpPr>
          <p:cNvPr id="5" name="Rectangle 3"/>
          <p:cNvSpPr/>
          <p:nvPr/>
        </p:nvSpPr>
        <p:spPr>
          <a:xfrm>
            <a:off x="304801" y="1091248"/>
            <a:ext cx="1046848" cy="37504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t>Data Source (CSV</a:t>
            </a:r>
            <a:r>
              <a:rPr lang="en-IN" altLang="en-US" sz="1100" b="1" dirty="0"/>
              <a:t>,</a:t>
            </a:r>
            <a:endParaRPr lang="en-US" sz="1100" b="1" dirty="0"/>
          </a:p>
          <a:p>
            <a:pPr algn="ctr"/>
            <a:r>
              <a:rPr lang="en-IN" altLang="en-US" sz="1100" b="1" dirty="0"/>
              <a:t>JSON </a:t>
            </a:r>
            <a:r>
              <a:rPr lang="en-US" sz="1100" b="1" dirty="0"/>
              <a:t>)</a:t>
            </a:r>
            <a:endParaRPr lang="en-US" sz="1100" b="1" dirty="0"/>
          </a:p>
          <a:p>
            <a:pPr algn="ctr"/>
            <a:endParaRPr lang="en-US" sz="1100" dirty="0"/>
          </a:p>
        </p:txBody>
      </p:sp>
      <p:sp>
        <p:nvSpPr>
          <p:cNvPr id="16" name="Arrow: Right 15"/>
          <p:cNvSpPr/>
          <p:nvPr/>
        </p:nvSpPr>
        <p:spPr>
          <a:xfrm>
            <a:off x="1351648" y="2973228"/>
            <a:ext cx="342900" cy="20002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4"/>
          <p:cNvSpPr/>
          <p:nvPr/>
        </p:nvSpPr>
        <p:spPr>
          <a:xfrm>
            <a:off x="1356412" y="1091248"/>
            <a:ext cx="750993" cy="37504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Data Ingestion</a:t>
            </a:r>
            <a:endParaRPr lang="en-US" b="1" dirty="0"/>
          </a:p>
        </p:txBody>
      </p:sp>
      <p:sp>
        <p:nvSpPr>
          <p:cNvPr id="7" name="Arrow: Right 15"/>
          <p:cNvSpPr/>
          <p:nvPr/>
        </p:nvSpPr>
        <p:spPr>
          <a:xfrm>
            <a:off x="1156068" y="4024788"/>
            <a:ext cx="342900" cy="200025"/>
          </a:xfrm>
          <a:prstGeom prst="rightArrow">
            <a:avLst/>
          </a:prstGeom>
          <a:gradFill>
            <a:gsLst>
              <a:gs pos="0">
                <a:schemeClr val="accent5">
                  <a:lumMod val="75000"/>
                </a:schemeClr>
              </a:gs>
              <a:gs pos="100000">
                <a:schemeClr val="accent1">
                  <a:tint val="50000"/>
                  <a:shade val="100000"/>
                  <a:satMod val="350000"/>
                </a:schemeClr>
              </a:gs>
            </a:gsLst>
          </a:gradFill>
          <a:ln>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5"/>
          <p:cNvSpPr/>
          <p:nvPr/>
        </p:nvSpPr>
        <p:spPr>
          <a:xfrm>
            <a:off x="2107405" y="3838655"/>
            <a:ext cx="6558547" cy="10036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Data Storage</a:t>
            </a:r>
            <a:r>
              <a:rPr lang="en-IN" altLang="en-US" b="1" dirty="0"/>
              <a:t> Layer</a:t>
            </a:r>
            <a:endParaRPr lang="en-IN" altLang="en-US" b="1" dirty="0"/>
          </a:p>
        </p:txBody>
      </p:sp>
      <p:sp>
        <p:nvSpPr>
          <p:cNvPr id="11" name="Arrow: Right 15"/>
          <p:cNvSpPr/>
          <p:nvPr/>
        </p:nvSpPr>
        <p:spPr>
          <a:xfrm>
            <a:off x="1934578" y="4024788"/>
            <a:ext cx="342900" cy="200025"/>
          </a:xfrm>
          <a:prstGeom prst="rightArrow">
            <a:avLst/>
          </a:prstGeom>
          <a:gradFill>
            <a:gsLst>
              <a:gs pos="0">
                <a:schemeClr val="accent5">
                  <a:lumMod val="75000"/>
                </a:schemeClr>
              </a:gs>
              <a:gs pos="100000">
                <a:schemeClr val="accent1">
                  <a:tint val="50000"/>
                  <a:shade val="100000"/>
                  <a:satMod val="350000"/>
                </a:schemeClr>
              </a:gs>
            </a:gsLst>
          </a:gradFill>
          <a:ln>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8"/>
          <p:cNvSpPr/>
          <p:nvPr/>
        </p:nvSpPr>
        <p:spPr>
          <a:xfrm>
            <a:off x="2102326" y="3039428"/>
            <a:ext cx="6558547" cy="8786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Data Processing</a:t>
            </a:r>
            <a:r>
              <a:rPr lang="en-IN" altLang="en-US" b="1" dirty="0"/>
              <a:t> Layer</a:t>
            </a:r>
            <a:endParaRPr lang="en-US" b="1" dirty="0"/>
          </a:p>
          <a:p>
            <a:pPr algn="ctr"/>
            <a:r>
              <a:rPr lang="en-US" dirty="0"/>
              <a:t>(Pyt</a:t>
            </a:r>
            <a:r>
              <a:rPr lang="en-IN" altLang="en-US" dirty="0"/>
              <a:t>hon</a:t>
            </a:r>
            <a:r>
              <a:rPr lang="en-US" dirty="0"/>
              <a:t>)</a:t>
            </a:r>
            <a:endParaRPr lang="en-US" dirty="0"/>
          </a:p>
        </p:txBody>
      </p:sp>
      <p:sp>
        <p:nvSpPr>
          <p:cNvPr id="17" name="Rectangle 9"/>
          <p:cNvSpPr/>
          <p:nvPr/>
        </p:nvSpPr>
        <p:spPr>
          <a:xfrm>
            <a:off x="2102643" y="1823163"/>
            <a:ext cx="6563310" cy="122158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Data Query Layer &amp; Analysis</a:t>
            </a:r>
            <a:endParaRPr lang="en-US" b="1" dirty="0"/>
          </a:p>
          <a:p>
            <a:pPr algn="ctr"/>
            <a:r>
              <a:rPr lang="en-US" dirty="0"/>
              <a:t>(</a:t>
            </a:r>
            <a:r>
              <a:rPr lang="en-US" dirty="0" err="1"/>
              <a:t>Pyspark</a:t>
            </a:r>
            <a:r>
              <a:rPr lang="en-US" dirty="0"/>
              <a:t>)</a:t>
            </a:r>
            <a:endParaRPr lang="en-US" dirty="0"/>
          </a:p>
        </p:txBody>
      </p:sp>
      <p:sp>
        <p:nvSpPr>
          <p:cNvPr id="18" name="Rectangle 11"/>
          <p:cNvSpPr/>
          <p:nvPr/>
        </p:nvSpPr>
        <p:spPr>
          <a:xfrm>
            <a:off x="2102485" y="1085215"/>
            <a:ext cx="6563360" cy="7327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Data Visualization</a:t>
            </a:r>
            <a:endParaRPr lang="en-US" b="1" dirty="0"/>
          </a:p>
          <a:p>
            <a:pPr algn="ctr"/>
            <a:r>
              <a:rPr lang="en-US" dirty="0"/>
              <a:t>(Tableau)</a:t>
            </a:r>
            <a:endParaRPr lang="en-US" dirty="0"/>
          </a:p>
        </p:txBody>
      </p:sp>
      <p:sp>
        <p:nvSpPr>
          <p:cNvPr id="22" name="Rectangles 21"/>
          <p:cNvSpPr/>
          <p:nvPr/>
        </p:nvSpPr>
        <p:spPr>
          <a:xfrm>
            <a:off x="6355715" y="3782060"/>
            <a:ext cx="88900" cy="442595"/>
          </a:xfrm>
          <a:prstGeom prst="rect">
            <a:avLst/>
          </a:prstGeom>
          <a:solidFill>
            <a:schemeClr val="accent5">
              <a:lumMod val="75000"/>
            </a:schemeClr>
          </a:solidFill>
          <a:ln>
            <a:solidFill>
              <a:schemeClr val="accent5">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3" name="Isosceles Triangle 22"/>
          <p:cNvSpPr/>
          <p:nvPr/>
        </p:nvSpPr>
        <p:spPr>
          <a:xfrm>
            <a:off x="6284595" y="3645535"/>
            <a:ext cx="231775" cy="136525"/>
          </a:xfrm>
          <a:prstGeom prst="triangle">
            <a:avLst/>
          </a:prstGeom>
          <a:solidFill>
            <a:schemeClr val="accent5">
              <a:lumMod val="75000"/>
            </a:schemeClr>
          </a:solidFill>
          <a:ln>
            <a:solidFill>
              <a:schemeClr val="accent5">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4" name="Isosceles Triangle 23"/>
          <p:cNvSpPr/>
          <p:nvPr/>
        </p:nvSpPr>
        <p:spPr>
          <a:xfrm flipV="1">
            <a:off x="6284595" y="4224655"/>
            <a:ext cx="231775" cy="180975"/>
          </a:xfrm>
          <a:prstGeom prst="triangle">
            <a:avLst/>
          </a:prstGeom>
          <a:solidFill>
            <a:schemeClr val="accent5">
              <a:lumMod val="75000"/>
            </a:schemeClr>
          </a:solidFill>
          <a:ln>
            <a:solidFill>
              <a:schemeClr val="accent5">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5" name="Up Arrow 24"/>
          <p:cNvSpPr/>
          <p:nvPr/>
        </p:nvSpPr>
        <p:spPr>
          <a:xfrm>
            <a:off x="3570605" y="2782570"/>
            <a:ext cx="160655" cy="450215"/>
          </a:xfrm>
          <a:prstGeom prst="upArrow">
            <a:avLst/>
          </a:prstGeom>
          <a:solidFill>
            <a:schemeClr val="accent5">
              <a:lumMod val="75000"/>
            </a:schemeClr>
          </a:solidFill>
          <a:ln>
            <a:solidFill>
              <a:schemeClr val="accent5">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extBox 1"/>
          <p:cNvSpPr txBox="1"/>
          <p:nvPr/>
        </p:nvSpPr>
        <p:spPr>
          <a:xfrm>
            <a:off x="304801" y="676656"/>
            <a:ext cx="3265804" cy="461665"/>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Architecture</a:t>
            </a:r>
            <a:endParaRPr lang="en-US" sz="2400" dirty="0">
              <a:latin typeface="Times New Roman" panose="02020603050405020304" pitchFamily="18" charset="0"/>
              <a:cs typeface="Times New Roman" panose="02020603050405020304" pitchFamily="18" charset="0"/>
            </a:endParaRPr>
          </a:p>
        </p:txBody>
      </p:sp>
      <p:sp>
        <p:nvSpPr>
          <p:cNvPr id="3" name="Can 2"/>
          <p:cNvSpPr/>
          <p:nvPr/>
        </p:nvSpPr>
        <p:spPr>
          <a:xfrm>
            <a:off x="6764655" y="4058920"/>
            <a:ext cx="1057275" cy="666750"/>
          </a:xfrm>
          <a:prstGeom prst="can">
            <a:avLst/>
          </a:prstGeom>
          <a:solidFill>
            <a:schemeClr val="bg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200" dirty="0">
                <a:solidFill>
                  <a:schemeClr val="tx1"/>
                </a:solidFill>
              </a:rPr>
              <a:t>MONGO DB ATLAS</a:t>
            </a:r>
            <a:endParaRPr lang="en-IN" altLang="en-US" sz="1200" dirty="0">
              <a:solidFill>
                <a:schemeClr val="tx1"/>
              </a:solidFill>
            </a:endParaRPr>
          </a:p>
        </p:txBody>
      </p:sp>
      <p:sp>
        <p:nvSpPr>
          <p:cNvPr id="12" name="Can 11"/>
          <p:cNvSpPr/>
          <p:nvPr/>
        </p:nvSpPr>
        <p:spPr>
          <a:xfrm>
            <a:off x="2644775" y="4077335"/>
            <a:ext cx="1003300" cy="629285"/>
          </a:xfrm>
          <a:prstGeom prst="can">
            <a:avLst/>
          </a:prstGeom>
          <a:solidFill>
            <a:schemeClr val="bg2">
              <a:lumMod val="40000"/>
              <a:lumOff val="60000"/>
            </a:schemeClr>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IN" altLang="en-US" sz="1200" dirty="0">
                <a:solidFill>
                  <a:schemeClr val="tx1"/>
                </a:solidFill>
              </a:rPr>
              <a:t>MONGO DB ATLAS</a:t>
            </a:r>
            <a:endParaRPr lang="en-IN" altLang="en-US" sz="12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48" y="410861"/>
            <a:ext cx="5378960" cy="1260389"/>
          </a:xfrm>
        </p:spPr>
        <p:txBody>
          <a:bodyPr vert="horz" lIns="91440" tIns="45720" rIns="91440" bIns="45720" rtlCol="0" anchor="ctr">
            <a:normAutofit/>
          </a:bodyPr>
          <a:lstStyle/>
          <a:p>
            <a:pPr>
              <a:lnSpc>
                <a:spcPct val="90000"/>
              </a:lnSpc>
              <a:spcBef>
                <a:spcPct val="0"/>
              </a:spcBef>
            </a:pPr>
            <a:r>
              <a:rPr lang="en-US" sz="2400" kern="1200" dirty="0">
                <a:solidFill>
                  <a:schemeClr val="tx1"/>
                </a:solidFill>
                <a:latin typeface="Times New Roman" panose="02020603050405020304" pitchFamily="18" charset="0"/>
                <a:ea typeface="+mj-ea"/>
                <a:cs typeface="Times New Roman" panose="02020603050405020304" pitchFamily="18" charset="0"/>
              </a:rPr>
              <a:t>Sector wise Performance</a:t>
            </a:r>
            <a:endParaRPr lang="en-US" sz="2400" kern="1200" dirty="0">
              <a:solidFill>
                <a:schemeClr val="tx1"/>
              </a:solidFill>
              <a:latin typeface="Times New Roman" panose="02020603050405020304" pitchFamily="18" charset="0"/>
              <a:ea typeface="+mj-ea"/>
              <a:cs typeface="Times New Roman" panose="02020603050405020304" pitchFamily="18" charset="0"/>
            </a:endParaRPr>
          </a:p>
        </p:txBody>
      </p:sp>
      <p:pic>
        <p:nvPicPr>
          <p:cNvPr id="5" name="Picture 4" descr="A screenshot of a computer&#10;&#10;Description automatically generated"/>
          <p:cNvPicPr>
            <a:picLocks noChangeAspect="1"/>
          </p:cNvPicPr>
          <p:nvPr/>
        </p:nvPicPr>
        <p:blipFill>
          <a:blip r:embed="rId1"/>
          <a:stretch>
            <a:fillRect/>
          </a:stretch>
        </p:blipFill>
        <p:spPr>
          <a:xfrm>
            <a:off x="4560775" y="1457033"/>
            <a:ext cx="3711145" cy="2783359"/>
          </a:xfrm>
          <a:prstGeom prst="rect">
            <a:avLst/>
          </a:prstGeom>
        </p:spPr>
      </p:pic>
      <p:pic>
        <p:nvPicPr>
          <p:cNvPr id="6" name="Picture 5" descr="A screenshot of a data analysis&#10;&#10;Description automatically generated"/>
          <p:cNvPicPr>
            <a:picLocks noChangeAspect="1"/>
          </p:cNvPicPr>
          <p:nvPr/>
        </p:nvPicPr>
        <p:blipFill>
          <a:blip r:embed="rId2"/>
          <a:stretch>
            <a:fillRect/>
          </a:stretch>
        </p:blipFill>
        <p:spPr>
          <a:xfrm>
            <a:off x="564826" y="1457033"/>
            <a:ext cx="3723557" cy="2783359"/>
          </a:xfrm>
          <a:prstGeom prst="rect">
            <a:avLst/>
          </a:prstGeom>
        </p:spPr>
      </p:pic>
      <p:sp>
        <p:nvSpPr>
          <p:cNvPr id="4" name="Slide Number Placeholder 3"/>
          <p:cNvSpPr>
            <a:spLocks noGrp="1"/>
          </p:cNvSpPr>
          <p:nvPr>
            <p:ph type="sldNum" idx="12"/>
          </p:nvPr>
        </p:nvSpPr>
        <p:spPr>
          <a:xfrm>
            <a:off x="6457950" y="4767262"/>
            <a:ext cx="2057400" cy="273844"/>
          </a:xfrm>
        </p:spPr>
        <p:txBody>
          <a:bodyPr vert="horz" lIns="91440" tIns="45720" rIns="91440" bIns="45720" rtlCol="0" anchor="ctr">
            <a:normAutofit/>
          </a:bodyPr>
          <a:lstStyle/>
          <a:p>
            <a:pPr lvl="0" indent="0">
              <a:lnSpc>
                <a:spcPct val="90000"/>
              </a:lnSpc>
              <a:spcBef>
                <a:spcPts val="0"/>
              </a:spcBef>
              <a:spcAft>
                <a:spcPts val="600"/>
              </a:spcAft>
              <a:buNone/>
            </a:pPr>
            <a:fld id="{00000000-1234-1234-1234-123412341234}" type="slidenum">
              <a:rPr lang="en-US" sz="700" kern="1200" smtClean="0">
                <a:solidFill>
                  <a:schemeClr val="tx1">
                    <a:tint val="75000"/>
                  </a:schemeClr>
                </a:solidFill>
                <a:latin typeface="+mn-lt"/>
                <a:ea typeface="+mn-ea"/>
                <a:cs typeface="+mn-cs"/>
              </a:rPr>
            </a:fld>
            <a:endParaRPr lang="en-US" sz="700" kern="1200">
              <a:solidFill>
                <a:schemeClr val="tx1">
                  <a:tint val="75000"/>
                </a:schemeClr>
              </a:solidFill>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2400" dirty="0">
                <a:latin typeface="Times New Roman" panose="02020603050405020304" pitchFamily="18" charset="0"/>
                <a:cs typeface="Times New Roman" panose="02020603050405020304" pitchFamily="18" charset="0"/>
              </a:rPr>
              <a:t>Seasonal and Stocks Trend:</a:t>
            </a:r>
            <a:endParaRPr lang="en-IN" altLang="en-US" sz="24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fld>
            <a:endParaRPr lang="en-GB"/>
          </a:p>
        </p:txBody>
      </p:sp>
      <p:pic>
        <p:nvPicPr>
          <p:cNvPr id="6" name="Picture 5" descr="A graph with different colored dots&#10;&#10;Description automatically generated"/>
          <p:cNvPicPr>
            <a:picLocks noChangeAspect="1"/>
          </p:cNvPicPr>
          <p:nvPr/>
        </p:nvPicPr>
        <p:blipFill>
          <a:blip r:embed="rId1"/>
          <a:stretch>
            <a:fillRect/>
          </a:stretch>
        </p:blipFill>
        <p:spPr>
          <a:xfrm>
            <a:off x="233916" y="1284916"/>
            <a:ext cx="5197620" cy="3416400"/>
          </a:xfrm>
          <a:prstGeom prst="rect">
            <a:avLst/>
          </a:prstGeom>
        </p:spPr>
      </p:pic>
      <p:pic>
        <p:nvPicPr>
          <p:cNvPr id="7" name="Picture 6" descr="A graph of a number of columns and numbers&#10;&#10;Description automatically generated with medium confidence"/>
          <p:cNvPicPr>
            <a:picLocks noChangeAspect="1"/>
          </p:cNvPicPr>
          <p:nvPr/>
        </p:nvPicPr>
        <p:blipFill>
          <a:blip r:embed="rId2"/>
          <a:stretch>
            <a:fillRect/>
          </a:stretch>
        </p:blipFill>
        <p:spPr>
          <a:xfrm>
            <a:off x="5431536" y="1284917"/>
            <a:ext cx="2769182" cy="335393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2400" dirty="0">
                <a:latin typeface="Times New Roman" panose="02020603050405020304" pitchFamily="18" charset="0"/>
                <a:cs typeface="Times New Roman" panose="02020603050405020304" pitchFamily="18" charset="0"/>
              </a:rPr>
              <a:t>Comparing the open and close price for each stock:</a:t>
            </a:r>
            <a:endParaRPr lang="en-IN" altLang="en-US" sz="24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fld>
            <a:endParaRPr lang="en-GB"/>
          </a:p>
        </p:txBody>
      </p:sp>
      <p:pic>
        <p:nvPicPr>
          <p:cNvPr id="8" name="Picture 7" descr="A graph of different colored bars&#10;&#10;Description automatically generated with medium confidence"/>
          <p:cNvPicPr>
            <a:picLocks noChangeAspect="1"/>
          </p:cNvPicPr>
          <p:nvPr/>
        </p:nvPicPr>
        <p:blipFill>
          <a:blip r:embed="rId1"/>
          <a:stretch>
            <a:fillRect/>
          </a:stretch>
        </p:blipFill>
        <p:spPr>
          <a:xfrm>
            <a:off x="197967" y="1222450"/>
            <a:ext cx="8520600" cy="33473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fld>
            <a:endParaRPr lang="en-GB"/>
          </a:p>
        </p:txBody>
      </p:sp>
      <p:pic>
        <p:nvPicPr>
          <p:cNvPr id="6" name="Picture 5" descr="A graph with lines and numbers&#10;&#10;Description automatically generated"/>
          <p:cNvPicPr>
            <a:picLocks noChangeAspect="1"/>
          </p:cNvPicPr>
          <p:nvPr/>
        </p:nvPicPr>
        <p:blipFill>
          <a:blip r:embed="rId1"/>
          <a:stretch>
            <a:fillRect/>
          </a:stretch>
        </p:blipFill>
        <p:spPr>
          <a:xfrm>
            <a:off x="172736" y="649749"/>
            <a:ext cx="8848422" cy="4407067"/>
          </a:xfrm>
          <a:prstGeom prst="rect">
            <a:avLst/>
          </a:prstGeom>
        </p:spPr>
      </p:pic>
      <p:sp>
        <p:nvSpPr>
          <p:cNvPr id="5" name="Text Box 4"/>
          <p:cNvSpPr txBox="1"/>
          <p:nvPr/>
        </p:nvSpPr>
        <p:spPr>
          <a:xfrm>
            <a:off x="492760" y="763270"/>
            <a:ext cx="6928485" cy="460375"/>
          </a:xfrm>
          <a:prstGeom prst="rect">
            <a:avLst/>
          </a:prstGeom>
          <a:noFill/>
        </p:spPr>
        <p:txBody>
          <a:bodyPr wrap="square" rtlCol="0">
            <a:spAutoFit/>
          </a:bodyPr>
          <a:p>
            <a:r>
              <a:rPr lang="en-IN" altLang="en-US" sz="2400"/>
              <a:t>Year Wise Analysis of Each Stock:</a:t>
            </a:r>
            <a:endParaRPr lang="en-IN"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p:cNvSpPr>
            <a:spLocks noGrp="1" noRot="1" noChangeAspect="1" noMove="1" noResize="1" noEditPoints="1" noAdjustHandles="1" noChangeArrowheads="1" noChangeShapeType="1" noTextEdit="1"/>
          </p:cNvSpPr>
          <p:nvPr/>
        </p:nvSpPr>
        <p:spPr>
          <a:xfrm>
            <a:off x="0" y="1"/>
            <a:ext cx="9144000" cy="51434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2298" y="342900"/>
            <a:ext cx="7588358" cy="862853"/>
          </a:xfrm>
        </p:spPr>
        <p:txBody>
          <a:bodyPr vert="horz" lIns="91440" tIns="45720" rIns="91440" bIns="45720" rtlCol="0" anchor="b">
            <a:normAutofit/>
          </a:bodyPr>
          <a:lstStyle/>
          <a:p>
            <a:pPr>
              <a:lnSpc>
                <a:spcPct val="90000"/>
              </a:lnSpc>
              <a:spcBef>
                <a:spcPct val="0"/>
              </a:spcBef>
            </a:pPr>
            <a:r>
              <a:rPr lang="en-US" sz="2400" kern="1200" dirty="0">
                <a:solidFill>
                  <a:schemeClr val="tx1"/>
                </a:solidFill>
                <a:latin typeface="Times New Roman" panose="02020603050405020304" pitchFamily="18" charset="0"/>
                <a:ea typeface="+mj-ea"/>
                <a:cs typeface="Times New Roman" panose="02020603050405020304" pitchFamily="18" charset="0"/>
              </a:rPr>
              <a:t>Insights and Report</a:t>
            </a:r>
            <a:endParaRPr lang="en-US" sz="2400" kern="1200" dirty="0">
              <a:solidFill>
                <a:schemeClr val="tx1"/>
              </a:solidFill>
              <a:latin typeface="Times New Roman" panose="02020603050405020304" pitchFamily="18" charset="0"/>
              <a:ea typeface="+mj-ea"/>
              <a:cs typeface="Times New Roman" panose="02020603050405020304" pitchFamily="18" charset="0"/>
            </a:endParaRPr>
          </a:p>
        </p:txBody>
      </p:sp>
      <p:sp>
        <p:nvSpPr>
          <p:cNvPr id="3" name="Text Placeholder 2"/>
          <p:cNvSpPr>
            <a:spLocks noGrp="1"/>
          </p:cNvSpPr>
          <p:nvPr>
            <p:ph type="body" idx="1"/>
          </p:nvPr>
        </p:nvSpPr>
        <p:spPr>
          <a:xfrm>
            <a:off x="862714" y="1485581"/>
            <a:ext cx="4501377" cy="2724618"/>
          </a:xfr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200" i="0" kern="1200" dirty="0">
                <a:solidFill>
                  <a:schemeClr val="tx1"/>
                </a:solidFill>
                <a:effectLst/>
                <a:latin typeface="Times New Roman" panose="02020603050405020304" pitchFamily="18" charset="0"/>
                <a:ea typeface="+mn-ea"/>
                <a:cs typeface="Times New Roman" panose="02020603050405020304" pitchFamily="18" charset="0"/>
              </a:rPr>
              <a:t>Amidst the general decline across most sectors during the COVID period, notable post-pandemic trends emerged, showcasing robust recovery in sectors like Communication Service and Technology, which displayed significantly higher growth rates compared to others.</a:t>
            </a:r>
            <a:endParaRPr lang="en-US" sz="120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i="0" kern="1200" dirty="0">
                <a:solidFill>
                  <a:schemeClr val="tx1"/>
                </a:solidFill>
                <a:effectLst/>
                <a:latin typeface="Times New Roman" panose="02020603050405020304" pitchFamily="18" charset="0"/>
                <a:ea typeface="+mn-ea"/>
                <a:cs typeface="Times New Roman" panose="02020603050405020304" pitchFamily="18" charset="0"/>
              </a:rPr>
              <a:t>Better to buy stocks in Q2 and sell them in Q3.</a:t>
            </a:r>
            <a:endParaRPr lang="en-US" sz="1200" i="0"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kern="1200" dirty="0">
                <a:solidFill>
                  <a:schemeClr val="tx1"/>
                </a:solidFill>
                <a:latin typeface="Times New Roman" panose="02020603050405020304" pitchFamily="18" charset="0"/>
                <a:ea typeface="+mn-ea"/>
                <a:cs typeface="Times New Roman" panose="02020603050405020304" pitchFamily="18" charset="0"/>
              </a:rPr>
              <a:t>Suggest firms in which company to invest when the closing price is significantly greater than opening price by using graphs.</a:t>
            </a:r>
            <a:endParaRPr lang="en-US" sz="1200" kern="1200" dirty="0">
              <a:solidFill>
                <a:schemeClr val="tx1"/>
              </a:solidFill>
              <a:latin typeface="Times New Roman" panose="02020603050405020304" pitchFamily="18" charset="0"/>
              <a:ea typeface="+mn-ea"/>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1200" i="0" kern="1200" dirty="0">
                <a:solidFill>
                  <a:schemeClr val="tx1"/>
                </a:solidFill>
                <a:effectLst/>
                <a:latin typeface="Times New Roman" panose="02020603050405020304" pitchFamily="18" charset="0"/>
                <a:ea typeface="+mn-ea"/>
                <a:cs typeface="Times New Roman" panose="02020603050405020304" pitchFamily="18" charset="0"/>
              </a:rPr>
              <a:t>Atlas equipment </a:t>
            </a:r>
            <a:r>
              <a:rPr lang="en-US" sz="1200" i="0" kern="1200" dirty="0" err="1">
                <a:solidFill>
                  <a:schemeClr val="tx1"/>
                </a:solidFill>
                <a:effectLst/>
                <a:latin typeface="Times New Roman" panose="02020603050405020304" pitchFamily="18" charset="0"/>
                <a:ea typeface="+mn-ea"/>
                <a:cs typeface="Times New Roman" panose="02020603050405020304" pitchFamily="18" charset="0"/>
              </a:rPr>
              <a:t>coporation</a:t>
            </a:r>
            <a:r>
              <a:rPr lang="en-US" sz="1200" i="0" kern="1200" dirty="0">
                <a:solidFill>
                  <a:schemeClr val="tx1"/>
                </a:solidFill>
                <a:effectLst/>
                <a:latin typeface="Times New Roman" panose="02020603050405020304" pitchFamily="18" charset="0"/>
                <a:ea typeface="+mn-ea"/>
                <a:cs typeface="Times New Roman" panose="02020603050405020304" pitchFamily="18" charset="0"/>
              </a:rPr>
              <a:t> is one of those companies whose trend is high in recent times.</a:t>
            </a:r>
            <a:endParaRPr lang="en-US" sz="1200" i="0" kern="1200" dirty="0">
              <a:solidFill>
                <a:schemeClr val="tx1"/>
              </a:solidFill>
              <a:effectLst/>
              <a:latin typeface="Times New Roman" panose="02020603050405020304" pitchFamily="18" charset="0"/>
              <a:ea typeface="+mn-ea"/>
              <a:cs typeface="Times New Roman" panose="02020603050405020304" pitchFamily="18" charset="0"/>
            </a:endParaRPr>
          </a:p>
        </p:txBody>
      </p:sp>
      <p:pic>
        <p:nvPicPr>
          <p:cNvPr id="1026" name="Picture 2" descr="Get customized insights with Ad Manager reporting"/>
          <p:cNvPicPr>
            <a:picLocks noChangeAspect="1" noChangeArrowheads="1"/>
          </p:cNvPicPr>
          <p:nvPr/>
        </p:nvPicPr>
        <p:blipFill rotWithShape="1">
          <a:blip r:embed="rId1">
            <a:extLst>
              <a:ext uri="{28A0092B-C50C-407E-A947-70E740481C1C}">
                <a14:useLocalDpi xmlns:a14="http://schemas.microsoft.com/office/drawing/2010/main" val="0"/>
              </a:ext>
            </a:extLst>
          </a:blip>
          <a:srcRect l="51147" r="7576" b="1"/>
          <a:stretch>
            <a:fillRect/>
          </a:stretch>
        </p:blipFill>
        <p:spPr bwMode="auto">
          <a:xfrm>
            <a:off x="5735128" y="1020726"/>
            <a:ext cx="2811644" cy="3189473"/>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p:cNvSpPr>
            <a:spLocks noGrp="1" noRot="1" noChangeAspect="1" noMove="1" noResize="1" noEditPoints="1" noAdjustHandles="1" noChangeArrowheads="1" noChangeShapeType="1" noTextEdit="1"/>
          </p:cNvSpPr>
          <p:nvPr/>
        </p:nvSpPr>
        <p:spPr>
          <a:xfrm>
            <a:off x="0" y="4801471"/>
            <a:ext cx="9143998" cy="346331"/>
          </a:xfrm>
          <a:prstGeom prst="rect">
            <a:avLst/>
          </a:prstGeom>
          <a:gradFill>
            <a:gsLst>
              <a:gs pos="0">
                <a:srgbClr val="000000"/>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p:cNvSpPr>
            <a:spLocks noGrp="1" noRot="1" noChangeAspect="1" noMove="1" noResize="1" noEditPoints="1" noAdjustHandles="1" noChangeArrowheads="1" noChangeShapeType="1" noTextEdit="1"/>
          </p:cNvSpPr>
          <p:nvPr/>
        </p:nvSpPr>
        <p:spPr>
          <a:xfrm>
            <a:off x="0" y="4801471"/>
            <a:ext cx="3057523" cy="348299"/>
          </a:xfrm>
          <a:prstGeom prst="rect">
            <a:avLst/>
          </a:prstGeom>
          <a:gradFill>
            <a:gsLst>
              <a:gs pos="0">
                <a:srgbClr val="000000">
                  <a:alpha val="46000"/>
                </a:srgbClr>
              </a:gs>
              <a:gs pos="99000">
                <a:schemeClr val="accent1"/>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idx="12"/>
          </p:nvPr>
        </p:nvSpPr>
        <p:spPr>
          <a:xfrm>
            <a:off x="8778240" y="4844533"/>
            <a:ext cx="336042" cy="273844"/>
          </a:xfrm>
        </p:spPr>
        <p:txBody>
          <a:bodyPr vert="horz" lIns="91440" tIns="45720" rIns="91440" bIns="45720" rtlCol="0" anchor="ctr">
            <a:normAutofit/>
          </a:bodyPr>
          <a:lstStyle/>
          <a:p>
            <a:pPr>
              <a:lnSpc>
                <a:spcPct val="90000"/>
              </a:lnSpc>
              <a:spcAft>
                <a:spcPts val="600"/>
              </a:spcAft>
              <a:buClrTx/>
              <a:defRPr/>
            </a:pPr>
            <a:fld id="{00000000-1234-1234-1234-123412341234}" type="slidenum">
              <a:rPr lang="en-US" sz="700" kern="1200">
                <a:solidFill>
                  <a:srgbClr val="FFFFFF"/>
                </a:solidFill>
                <a:latin typeface="Calibri" panose="020F0502020204030204"/>
                <a:ea typeface="+mn-ea"/>
                <a:cs typeface="+mn-cs"/>
              </a:rPr>
            </a:fld>
            <a:endParaRPr lang="en-US" sz="700" kern="1200">
              <a:solidFill>
                <a:srgbClr val="FFFFFF"/>
              </a:solidFill>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Challenges</a:t>
            </a:r>
            <a:endParaRPr lang="en-US" sz="24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pPr algn="l"/>
            <a:r>
              <a:rPr lang="en-US" sz="1400" i="0" dirty="0">
                <a:effectLst/>
                <a:latin typeface="Times New Roman" panose="02020603050405020304" pitchFamily="18" charset="0"/>
                <a:cs typeface="Times New Roman" panose="02020603050405020304" pitchFamily="18" charset="0"/>
              </a:rPr>
              <a:t>Data Overload: W</a:t>
            </a:r>
            <a:r>
              <a:rPr lang="en-US" sz="1400" i="0" dirty="0">
                <a:solidFill>
                  <a:srgbClr val="374151"/>
                </a:solidFill>
                <a:effectLst/>
                <a:latin typeface="Times New Roman" panose="02020603050405020304" pitchFamily="18" charset="0"/>
                <a:cs typeface="Times New Roman" panose="02020603050405020304" pitchFamily="18" charset="0"/>
              </a:rPr>
              <a:t>ith the advent of big data, analysts are often overwhelmed by the sheer volume of information available, including market data, financial reports, news feeds, and social media content.</a:t>
            </a:r>
            <a:endParaRPr lang="en-US" sz="1400" i="0" dirty="0">
              <a:effectLst/>
              <a:latin typeface="Times New Roman" panose="02020603050405020304" pitchFamily="18" charset="0"/>
              <a:cs typeface="Times New Roman" panose="02020603050405020304" pitchFamily="18" charset="0"/>
            </a:endParaRPr>
          </a:p>
          <a:p>
            <a:r>
              <a:rPr lang="en-US" sz="1400" i="0" dirty="0">
                <a:effectLst/>
                <a:latin typeface="Times New Roman" panose="02020603050405020304" pitchFamily="18" charset="0"/>
                <a:cs typeface="Times New Roman" panose="02020603050405020304" pitchFamily="18" charset="0"/>
              </a:rPr>
              <a:t>Market Volatility: </a:t>
            </a:r>
            <a:r>
              <a:rPr lang="en-US" sz="1400" i="0" dirty="0">
                <a:solidFill>
                  <a:srgbClr val="374151"/>
                </a:solidFill>
                <a:effectLst/>
                <a:latin typeface="Times New Roman" panose="02020603050405020304" pitchFamily="18" charset="0"/>
                <a:cs typeface="Times New Roman" panose="02020603050405020304" pitchFamily="18" charset="0"/>
              </a:rPr>
              <a:t>Markets can be extremely volatile, influenced by myriad factors such as economic changes, political events, and global crises.</a:t>
            </a:r>
            <a:endParaRPr lang="en-US" sz="1400" i="0" dirty="0">
              <a:effectLst/>
              <a:latin typeface="Times New Roman" panose="02020603050405020304" pitchFamily="18" charset="0"/>
              <a:cs typeface="Times New Roman" panose="02020603050405020304" pitchFamily="18" charset="0"/>
            </a:endParaRPr>
          </a:p>
          <a:p>
            <a:pPr algn="l"/>
            <a:r>
              <a:rPr lang="en-US" sz="1400" i="0" dirty="0">
                <a:effectLst/>
                <a:latin typeface="Times New Roman" panose="02020603050405020304" pitchFamily="18" charset="0"/>
                <a:cs typeface="Times New Roman" panose="02020603050405020304" pitchFamily="18" charset="0"/>
              </a:rPr>
              <a:t>Technological Advancements and Adaptation: </a:t>
            </a:r>
            <a:r>
              <a:rPr lang="en-US" sz="1400" i="0" dirty="0">
                <a:solidFill>
                  <a:srgbClr val="374151"/>
                </a:solidFill>
                <a:effectLst/>
                <a:latin typeface="Times New Roman" panose="02020603050405020304" pitchFamily="18" charset="0"/>
                <a:cs typeface="Times New Roman" panose="02020603050405020304" pitchFamily="18" charset="0"/>
              </a:rPr>
              <a:t>The fast pace of technological advancement requires continuous learning and adaptation. Analysts must stay updated with the latest tools and techniques.</a:t>
            </a:r>
            <a:endParaRPr lang="en-US" sz="1400" i="0" dirty="0">
              <a:effectLst/>
              <a:latin typeface="Times New Roman" panose="02020603050405020304" pitchFamily="18" charset="0"/>
              <a:cs typeface="Times New Roman" panose="02020603050405020304" pitchFamily="18" charset="0"/>
            </a:endParaRPr>
          </a:p>
          <a:p>
            <a:r>
              <a:rPr lang="en-US" sz="1400" i="0" dirty="0">
                <a:effectLst/>
                <a:latin typeface="Times New Roman" panose="02020603050405020304" pitchFamily="18" charset="0"/>
                <a:cs typeface="Times New Roman" panose="02020603050405020304" pitchFamily="18" charset="0"/>
              </a:rPr>
              <a:t>Accuracy and Reliability of Predictive Models: </a:t>
            </a:r>
            <a:r>
              <a:rPr lang="en-US" sz="1400" i="0" dirty="0">
                <a:solidFill>
                  <a:srgbClr val="374151"/>
                </a:solidFill>
                <a:effectLst/>
                <a:latin typeface="Times New Roman" panose="02020603050405020304" pitchFamily="18" charset="0"/>
                <a:cs typeface="Times New Roman" panose="02020603050405020304" pitchFamily="18" charset="0"/>
              </a:rPr>
              <a:t>There's a risk of creating models that are overfitted to past data, which may not accurately predict future market behavior.</a:t>
            </a:r>
            <a:br>
              <a:rPr lang="en-US" b="0" i="0" dirty="0">
                <a:solidFill>
                  <a:srgbClr val="374151"/>
                </a:solidFill>
                <a:effectLst/>
                <a:latin typeface="Söhne"/>
              </a:rPr>
            </a:br>
            <a:endParaRPr lang="en-US" b="0" i="0" dirty="0">
              <a:solidFill>
                <a:srgbClr val="374151"/>
              </a:solidFill>
              <a:effectLst/>
              <a:latin typeface="Söhne"/>
            </a:endParaRP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i="0" dirty="0">
                <a:effectLst/>
                <a:latin typeface="Times New Roman" panose="02020603050405020304" pitchFamily="18" charset="0"/>
                <a:cs typeface="Times New Roman" panose="02020603050405020304" pitchFamily="18" charset="0"/>
              </a:rPr>
              <a:t>Future Opportunities:</a:t>
            </a:r>
            <a:br>
              <a:rPr lang="en-US" b="1" i="0" dirty="0">
                <a:effectLst/>
                <a:latin typeface="Söhne"/>
              </a:rPr>
            </a:br>
            <a:endParaRPr lang="en-US" dirty="0"/>
          </a:p>
        </p:txBody>
      </p:sp>
      <p:sp>
        <p:nvSpPr>
          <p:cNvPr id="3" name="Text Placeholder 2"/>
          <p:cNvSpPr>
            <a:spLocks noGrp="1"/>
          </p:cNvSpPr>
          <p:nvPr>
            <p:ph type="body" idx="1"/>
          </p:nvPr>
        </p:nvSpPr>
        <p:spPr/>
        <p:txBody>
          <a:bodyPr/>
          <a:lstStyle/>
          <a:p>
            <a:r>
              <a:rPr lang="en-US" sz="1200" b="1" i="0" dirty="0">
                <a:solidFill>
                  <a:srgbClr val="374151"/>
                </a:solidFill>
                <a:effectLst/>
                <a:latin typeface="Times New Roman" panose="02020603050405020304" pitchFamily="18" charset="0"/>
                <a:cs typeface="Times New Roman" panose="02020603050405020304" pitchFamily="18" charset="0"/>
              </a:rPr>
              <a:t>Advanced AI and Machine Learning</a:t>
            </a:r>
            <a:r>
              <a:rPr lang="en-US" sz="1200" b="0" i="0" dirty="0">
                <a:solidFill>
                  <a:srgbClr val="374151"/>
                </a:solidFill>
                <a:effectLst/>
                <a:latin typeface="Times New Roman" panose="02020603050405020304" pitchFamily="18" charset="0"/>
                <a:cs typeface="Times New Roman" panose="02020603050405020304" pitchFamily="18" charset="0"/>
              </a:rPr>
              <a:t>: The ongoing development in AI and machine learning offers immense potential for more accurate predictive analytics, automated trading systems, and sophisticated risk management strategies.</a:t>
            </a:r>
            <a:endParaRPr lang="en-US" sz="1200" b="0" i="0" dirty="0">
              <a:solidFill>
                <a:srgbClr val="374151"/>
              </a:solidFill>
              <a:effectLst/>
              <a:latin typeface="Times New Roman" panose="02020603050405020304" pitchFamily="18" charset="0"/>
              <a:cs typeface="Times New Roman" panose="02020603050405020304" pitchFamily="18" charset="0"/>
            </a:endParaRPr>
          </a:p>
          <a:p>
            <a:r>
              <a:rPr lang="en-US" sz="1200" b="1" i="0" dirty="0">
                <a:solidFill>
                  <a:srgbClr val="374151"/>
                </a:solidFill>
                <a:effectLst/>
                <a:latin typeface="Times New Roman" panose="02020603050405020304" pitchFamily="18" charset="0"/>
                <a:cs typeface="Times New Roman" panose="02020603050405020304" pitchFamily="18" charset="0"/>
              </a:rPr>
              <a:t>Blockchain Technology</a:t>
            </a:r>
            <a:r>
              <a:rPr lang="en-US" sz="1200" b="0" i="0" dirty="0">
                <a:solidFill>
                  <a:srgbClr val="374151"/>
                </a:solidFill>
                <a:effectLst/>
                <a:latin typeface="Times New Roman" panose="02020603050405020304" pitchFamily="18" charset="0"/>
                <a:cs typeface="Times New Roman" panose="02020603050405020304" pitchFamily="18" charset="0"/>
              </a:rPr>
              <a:t>: Blockchain could revolutionize stock market operations by enhancing transparency, reducing fraud, and streamlining transactions.</a:t>
            </a:r>
            <a:endParaRPr lang="en-US" sz="1200" b="0" i="0" dirty="0">
              <a:solidFill>
                <a:srgbClr val="374151"/>
              </a:solidFill>
              <a:effectLst/>
              <a:latin typeface="Times New Roman" panose="02020603050405020304" pitchFamily="18" charset="0"/>
              <a:cs typeface="Times New Roman" panose="02020603050405020304" pitchFamily="18" charset="0"/>
            </a:endParaRPr>
          </a:p>
          <a:p>
            <a:r>
              <a:rPr lang="en-US" sz="1200" b="1" i="0" dirty="0">
                <a:solidFill>
                  <a:srgbClr val="374151"/>
                </a:solidFill>
                <a:effectLst/>
                <a:latin typeface="Times New Roman" panose="02020603050405020304" pitchFamily="18" charset="0"/>
                <a:cs typeface="Times New Roman" panose="02020603050405020304" pitchFamily="18" charset="0"/>
              </a:rPr>
              <a:t>Quantum Computing</a:t>
            </a:r>
            <a:r>
              <a:rPr lang="en-US" sz="1200" b="0" i="0" dirty="0">
                <a:solidFill>
                  <a:srgbClr val="374151"/>
                </a:solidFill>
                <a:effectLst/>
                <a:latin typeface="Times New Roman" panose="02020603050405020304" pitchFamily="18" charset="0"/>
                <a:cs typeface="Times New Roman" panose="02020603050405020304" pitchFamily="18" charset="0"/>
              </a:rPr>
              <a:t>: With its ability to process vast amounts of data at unprecedented speeds, quantum computing could enable more complex and rapid analysis, significantly impacting trading strategies and market predictions.</a:t>
            </a:r>
            <a:endParaRPr lang="en-US" sz="1200" b="0" i="0" dirty="0">
              <a:solidFill>
                <a:srgbClr val="374151"/>
              </a:solidFill>
              <a:effectLst/>
              <a:latin typeface="Times New Roman" panose="02020603050405020304" pitchFamily="18" charset="0"/>
              <a:cs typeface="Times New Roman" panose="02020603050405020304" pitchFamily="18" charset="0"/>
            </a:endParaRPr>
          </a:p>
          <a:p>
            <a:r>
              <a:rPr lang="en-US" sz="1200" b="1" i="0" dirty="0">
                <a:solidFill>
                  <a:srgbClr val="374151"/>
                </a:solidFill>
                <a:effectLst/>
                <a:latin typeface="Times New Roman" panose="02020603050405020304" pitchFamily="18" charset="0"/>
                <a:cs typeface="Times New Roman" panose="02020603050405020304" pitchFamily="18" charset="0"/>
              </a:rPr>
              <a:t>Increased Data Accessibility</a:t>
            </a:r>
            <a:r>
              <a:rPr lang="en-US" sz="1200" b="0" i="0" dirty="0">
                <a:solidFill>
                  <a:srgbClr val="374151"/>
                </a:solidFill>
                <a:effectLst/>
                <a:latin typeface="Times New Roman" panose="02020603050405020304" pitchFamily="18" charset="0"/>
                <a:cs typeface="Times New Roman" panose="02020603050405020304" pitchFamily="18" charset="0"/>
              </a:rPr>
              <a:t>: As data becomes more accessible, there will be opportunities for deeper market insights and democratization of stock market analysis, allowing more players to participate effectively.</a:t>
            </a:r>
            <a:endParaRPr lang="en-US" sz="1200" b="0" i="0" dirty="0">
              <a:solidFill>
                <a:srgbClr val="374151"/>
              </a:solidFill>
              <a:effectLst/>
              <a:latin typeface="Times New Roman" panose="02020603050405020304" pitchFamily="18" charset="0"/>
              <a:cs typeface="Times New Roman" panose="02020603050405020304" pitchFamily="18" charset="0"/>
            </a:endParaRPr>
          </a:p>
          <a:p>
            <a:endParaRPr lang="en-US" b="1" i="0" dirty="0">
              <a:effectLst/>
              <a:latin typeface="Söhne"/>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References:</a:t>
            </a:r>
            <a:br>
              <a:rPr lang="en-IN" altLang="en-US" dirty="0"/>
            </a:br>
            <a:endParaRPr lang="en-IN" altLang="en-US" dirty="0"/>
          </a:p>
        </p:txBody>
      </p:sp>
      <p:sp>
        <p:nvSpPr>
          <p:cNvPr id="3" name="Text Placeholder 2"/>
          <p:cNvSpPr>
            <a:spLocks noGrp="1"/>
          </p:cNvSpPr>
          <p:nvPr>
            <p:ph type="body" idx="1"/>
          </p:nvPr>
        </p:nvSpPr>
        <p:spPr>
          <a:xfrm>
            <a:off x="194860" y="1247215"/>
            <a:ext cx="8520600" cy="3416400"/>
          </a:xfrm>
        </p:spPr>
        <p:txBody>
          <a:bodyPr/>
          <a:lstStyle/>
          <a:p>
            <a:pPr marL="596900" lvl="1" indent="0">
              <a:lnSpc>
                <a:spcPct val="100000"/>
              </a:lnSpc>
              <a:spcBef>
                <a:spcPts val="400"/>
              </a:spcBef>
              <a:spcAft>
                <a:spcPts val="400"/>
              </a:spcAft>
              <a:buFont typeface="Arial" panose="020B0604020202020204" pitchFamily="34" charset="0"/>
              <a:buNone/>
            </a:pPr>
            <a:endParaRPr lang="en-US" sz="1200" dirty="0">
              <a:latin typeface="Times New Roman" panose="02020603050405020304" pitchFamily="18" charset="0"/>
              <a:cs typeface="Times New Roman" panose="02020603050405020304" pitchFamily="18" charset="0"/>
            </a:endParaRPr>
          </a:p>
          <a:p>
            <a:r>
              <a:rPr lang="en-US" sz="1200" i="1" dirty="0">
                <a:effectLst/>
                <a:latin typeface="Times New Roman" panose="02020603050405020304" pitchFamily="18" charset="0"/>
                <a:cs typeface="Times New Roman" panose="02020603050405020304" pitchFamily="18" charset="0"/>
              </a:rPr>
              <a:t>Big Data in finance - your guide to financial data analysis</a:t>
            </a:r>
            <a:r>
              <a:rPr lang="en-US" sz="1200" dirty="0">
                <a:effectLst/>
                <a:latin typeface="Times New Roman" panose="02020603050405020304" pitchFamily="18" charset="0"/>
                <a:cs typeface="Times New Roman" panose="02020603050405020304" pitchFamily="18" charset="0"/>
              </a:rPr>
              <a:t>. Talend. (n.d.). https://</a:t>
            </a:r>
            <a:r>
              <a:rPr lang="en-US" sz="1200" dirty="0" err="1">
                <a:effectLst/>
                <a:latin typeface="Times New Roman" panose="02020603050405020304" pitchFamily="18" charset="0"/>
                <a:cs typeface="Times New Roman" panose="02020603050405020304" pitchFamily="18" charset="0"/>
              </a:rPr>
              <a:t>www.talend.com</a:t>
            </a:r>
            <a:r>
              <a:rPr lang="en-US" sz="1200" dirty="0">
                <a:effectLst/>
                <a:latin typeface="Times New Roman" panose="02020603050405020304" pitchFamily="18" charset="0"/>
                <a:cs typeface="Times New Roman" panose="02020603050405020304" pitchFamily="18" charset="0"/>
              </a:rPr>
              <a:t>/resources/big-data-finance/ </a:t>
            </a:r>
            <a:endParaRPr lang="en-US" sz="1200" dirty="0">
              <a:effectLst/>
              <a:latin typeface="Times New Roman" panose="02020603050405020304" pitchFamily="18" charset="0"/>
              <a:cs typeface="Times New Roman" panose="02020603050405020304" pitchFamily="18" charset="0"/>
            </a:endParaRPr>
          </a:p>
          <a:p>
            <a:r>
              <a:rPr lang="en-US" sz="1200" dirty="0" err="1">
                <a:effectLst/>
                <a:latin typeface="Times New Roman" panose="02020603050405020304" pitchFamily="18" charset="0"/>
                <a:cs typeface="Times New Roman" panose="02020603050405020304" pitchFamily="18" charset="0"/>
              </a:rPr>
              <a:t>Deagon</a:t>
            </a:r>
            <a:r>
              <a:rPr lang="en-US" sz="1200" dirty="0">
                <a:effectLst/>
                <a:latin typeface="Times New Roman" panose="02020603050405020304" pitchFamily="18" charset="0"/>
                <a:cs typeface="Times New Roman" panose="02020603050405020304" pitchFamily="18" charset="0"/>
              </a:rPr>
              <a:t>, B. (2022, September 14). </a:t>
            </a:r>
            <a:r>
              <a:rPr lang="en-US" sz="1200" i="1" dirty="0">
                <a:effectLst/>
                <a:latin typeface="Times New Roman" panose="02020603050405020304" pitchFamily="18" charset="0"/>
                <a:cs typeface="Times New Roman" panose="02020603050405020304" pitchFamily="18" charset="0"/>
              </a:rPr>
              <a:t>Big Data Companies and data analytics: Stocks to buy and watch</a:t>
            </a:r>
            <a:r>
              <a:rPr lang="en-US" sz="1200" dirty="0">
                <a:effectLst/>
                <a:latin typeface="Times New Roman" panose="02020603050405020304" pitchFamily="18" charset="0"/>
                <a:cs typeface="Times New Roman" panose="02020603050405020304" pitchFamily="18" charset="0"/>
              </a:rPr>
              <a:t>. Investor’s Business Daily. https://</a:t>
            </a:r>
            <a:r>
              <a:rPr lang="en-US" sz="1200" dirty="0" err="1">
                <a:effectLst/>
                <a:latin typeface="Times New Roman" panose="02020603050405020304" pitchFamily="18" charset="0"/>
                <a:cs typeface="Times New Roman" panose="02020603050405020304" pitchFamily="18" charset="0"/>
              </a:rPr>
              <a:t>www.investors.com</a:t>
            </a:r>
            <a:r>
              <a:rPr lang="en-US" sz="1200" dirty="0">
                <a:effectLst/>
                <a:latin typeface="Times New Roman" panose="02020603050405020304" pitchFamily="18" charset="0"/>
                <a:cs typeface="Times New Roman" panose="02020603050405020304" pitchFamily="18" charset="0"/>
              </a:rPr>
              <a:t>/news/technology/big-data-companies-data-analytics-stocks-to-watch/ </a:t>
            </a:r>
            <a:endParaRPr lang="en-US" sz="1200" dirty="0">
              <a:effectLst/>
              <a:latin typeface="Times New Roman" panose="02020603050405020304" pitchFamily="18" charset="0"/>
              <a:cs typeface="Times New Roman" panose="02020603050405020304" pitchFamily="18" charset="0"/>
            </a:endParaRPr>
          </a:p>
          <a:p>
            <a:r>
              <a:rPr lang="en-US" sz="1200" dirty="0">
                <a:effectLst/>
                <a:latin typeface="Times New Roman" panose="02020603050405020304" pitchFamily="18" charset="0"/>
                <a:cs typeface="Times New Roman" panose="02020603050405020304" pitchFamily="18" charset="0"/>
              </a:rPr>
              <a:t>Kalra, S., Gupta, S., &amp; Prasad, J. S. (1970, January 1). </a:t>
            </a:r>
            <a:r>
              <a:rPr lang="en-US" sz="1200" i="1" dirty="0">
                <a:effectLst/>
                <a:latin typeface="Times New Roman" panose="02020603050405020304" pitchFamily="18" charset="0"/>
                <a:cs typeface="Times New Roman" panose="02020603050405020304" pitchFamily="18" charset="0"/>
              </a:rPr>
              <a:t>Predicting trends of stock market using SVM: A big data analytics approach</a:t>
            </a:r>
            <a:r>
              <a:rPr lang="en-US" sz="1200" dirty="0">
                <a:effectLst/>
                <a:latin typeface="Times New Roman" panose="02020603050405020304" pitchFamily="18" charset="0"/>
                <a:cs typeface="Times New Roman" panose="02020603050405020304" pitchFamily="18" charset="0"/>
              </a:rPr>
              <a:t>. SpringerLink. https://</a:t>
            </a:r>
            <a:r>
              <a:rPr lang="en-US" sz="1200" dirty="0" err="1">
                <a:effectLst/>
                <a:latin typeface="Times New Roman" panose="02020603050405020304" pitchFamily="18" charset="0"/>
                <a:cs typeface="Times New Roman" panose="02020603050405020304" pitchFamily="18" charset="0"/>
              </a:rPr>
              <a:t>link.springer.com</a:t>
            </a:r>
            <a:r>
              <a:rPr lang="en-US" sz="1200" dirty="0">
                <a:effectLst/>
                <a:latin typeface="Times New Roman" panose="02020603050405020304" pitchFamily="18" charset="0"/>
                <a:cs typeface="Times New Roman" panose="02020603050405020304" pitchFamily="18" charset="0"/>
              </a:rPr>
              <a:t>/chapter/10.1007/978-981-15-5827-6_4 </a:t>
            </a:r>
            <a:endParaRPr lang="en-US" sz="1200" dirty="0">
              <a:effectLst/>
              <a:latin typeface="Times New Roman" panose="02020603050405020304" pitchFamily="18" charset="0"/>
              <a:cs typeface="Times New Roman" panose="02020603050405020304" pitchFamily="18" charset="0"/>
            </a:endParaRPr>
          </a:p>
          <a:p>
            <a:r>
              <a:rPr lang="en-US" sz="1200" dirty="0">
                <a:effectLst/>
                <a:latin typeface="Times New Roman" panose="02020603050405020304" pitchFamily="18" charset="0"/>
                <a:cs typeface="Times New Roman" panose="02020603050405020304" pitchFamily="18" charset="0"/>
              </a:rPr>
              <a:t>Mallon, S. (2021, February 3). </a:t>
            </a:r>
            <a:r>
              <a:rPr lang="en-US" sz="1200" i="1" dirty="0">
                <a:effectLst/>
                <a:latin typeface="Times New Roman" panose="02020603050405020304" pitchFamily="18" charset="0"/>
                <a:cs typeface="Times New Roman" panose="02020603050405020304" pitchFamily="18" charset="0"/>
              </a:rPr>
              <a:t>The massive impact of Big Data in the stock market</a:t>
            </a:r>
            <a:r>
              <a:rPr lang="en-US" sz="1200" dirty="0">
                <a:effectLst/>
                <a:latin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cs typeface="Times New Roman" panose="02020603050405020304" pitchFamily="18" charset="0"/>
              </a:rPr>
              <a:t>SmartData</a:t>
            </a:r>
            <a:r>
              <a:rPr lang="en-US" sz="1200" dirty="0">
                <a:effectLst/>
                <a:latin typeface="Times New Roman" panose="02020603050405020304" pitchFamily="18" charset="0"/>
                <a:cs typeface="Times New Roman" panose="02020603050405020304" pitchFamily="18" charset="0"/>
              </a:rPr>
              <a:t> Collective. https://</a:t>
            </a:r>
            <a:r>
              <a:rPr lang="en-US" sz="1200" dirty="0" err="1">
                <a:effectLst/>
                <a:latin typeface="Times New Roman" panose="02020603050405020304" pitchFamily="18" charset="0"/>
                <a:cs typeface="Times New Roman" panose="02020603050405020304" pitchFamily="18" charset="0"/>
              </a:rPr>
              <a:t>www.smartdatacollective.com</a:t>
            </a:r>
            <a:r>
              <a:rPr lang="en-US" sz="1200" dirty="0">
                <a:effectLst/>
                <a:latin typeface="Times New Roman" panose="02020603050405020304" pitchFamily="18" charset="0"/>
                <a:cs typeface="Times New Roman" panose="02020603050405020304" pitchFamily="18" charset="0"/>
              </a:rPr>
              <a:t>/big-data-analytics-has-potential-to-massively-disrupt-stock-market/ </a:t>
            </a:r>
            <a:endParaRPr lang="en-US" sz="1200" dirty="0">
              <a:effectLst/>
              <a:latin typeface="Times New Roman" panose="02020603050405020304" pitchFamily="18" charset="0"/>
              <a:cs typeface="Times New Roman" panose="02020603050405020304" pitchFamily="18" charset="0"/>
            </a:endParaRPr>
          </a:p>
          <a:p>
            <a:r>
              <a:rPr lang="en-US" sz="1200" dirty="0">
                <a:effectLst/>
                <a:latin typeface="Times New Roman" panose="02020603050405020304" pitchFamily="18" charset="0"/>
                <a:cs typeface="Times New Roman" panose="02020603050405020304" pitchFamily="18" charset="0"/>
              </a:rPr>
              <a:t>Shen, J., &amp; Shafiq, M. O. (2020, August 28). </a:t>
            </a:r>
            <a:r>
              <a:rPr lang="en-US" sz="1200" i="1" dirty="0">
                <a:effectLst/>
                <a:latin typeface="Times New Roman" panose="02020603050405020304" pitchFamily="18" charset="0"/>
                <a:cs typeface="Times New Roman" panose="02020603050405020304" pitchFamily="18" charset="0"/>
              </a:rPr>
              <a:t>Short-term stock market price trend prediction using a comprehensive deep learning system - journal of big data</a:t>
            </a:r>
            <a:r>
              <a:rPr lang="en-US" sz="1200" dirty="0">
                <a:effectLst/>
                <a:latin typeface="Times New Roman" panose="02020603050405020304" pitchFamily="18" charset="0"/>
                <a:cs typeface="Times New Roman" panose="02020603050405020304" pitchFamily="18" charset="0"/>
              </a:rPr>
              <a:t>. </a:t>
            </a:r>
            <a:r>
              <a:rPr lang="en-US" sz="1200" dirty="0" err="1">
                <a:effectLst/>
                <a:latin typeface="Times New Roman" panose="02020603050405020304" pitchFamily="18" charset="0"/>
                <a:cs typeface="Times New Roman" panose="02020603050405020304" pitchFamily="18" charset="0"/>
              </a:rPr>
              <a:t>SpringerOpen</a:t>
            </a:r>
            <a:r>
              <a:rPr lang="en-US" sz="1200" dirty="0">
                <a:effectLst/>
                <a:latin typeface="Times New Roman" panose="02020603050405020304" pitchFamily="18" charset="0"/>
                <a:cs typeface="Times New Roman" panose="02020603050405020304" pitchFamily="18" charset="0"/>
              </a:rPr>
              <a:t>. https://</a:t>
            </a:r>
            <a:r>
              <a:rPr lang="en-US" sz="1200" dirty="0" err="1">
                <a:effectLst/>
                <a:latin typeface="Times New Roman" panose="02020603050405020304" pitchFamily="18" charset="0"/>
                <a:cs typeface="Times New Roman" panose="02020603050405020304" pitchFamily="18" charset="0"/>
              </a:rPr>
              <a:t>journalofbigdata.springeropen.com</a:t>
            </a:r>
            <a:r>
              <a:rPr lang="en-US" sz="1200" dirty="0">
                <a:effectLst/>
                <a:latin typeface="Times New Roman" panose="02020603050405020304" pitchFamily="18" charset="0"/>
                <a:cs typeface="Times New Roman" panose="02020603050405020304" pitchFamily="18" charset="0"/>
              </a:rPr>
              <a:t>/articles/10.1186/s40537-020-00333-6 </a:t>
            </a:r>
            <a:endParaRPr lang="en-US" sz="1200" dirty="0">
              <a:effectLst/>
              <a:latin typeface="Times New Roman" panose="02020603050405020304" pitchFamily="18" charset="0"/>
              <a:cs typeface="Times New Roman" panose="02020603050405020304" pitchFamily="18" charset="0"/>
            </a:endParaRPr>
          </a:p>
          <a:p>
            <a:r>
              <a:rPr lang="en-US" sz="1200" dirty="0">
                <a:effectLst/>
                <a:latin typeface="Times New Roman" panose="02020603050405020304" pitchFamily="18" charset="0"/>
                <a:cs typeface="Times New Roman" panose="02020603050405020304" pitchFamily="18" charset="0"/>
              </a:rPr>
              <a:t>Trends, M. (2022, April 14). </a:t>
            </a:r>
            <a:r>
              <a:rPr lang="en-US" sz="1200" i="1" dirty="0">
                <a:effectLst/>
                <a:latin typeface="Times New Roman" panose="02020603050405020304" pitchFamily="18" charset="0"/>
                <a:cs typeface="Times New Roman" panose="02020603050405020304" pitchFamily="18" charset="0"/>
              </a:rPr>
              <a:t>Data Analytics and stock trading: How to use Data Science in stock market analysis</a:t>
            </a:r>
            <a:r>
              <a:rPr lang="en-US" sz="1200" dirty="0">
                <a:effectLst/>
                <a:latin typeface="Times New Roman" panose="02020603050405020304" pitchFamily="18" charset="0"/>
                <a:cs typeface="Times New Roman" panose="02020603050405020304" pitchFamily="18" charset="0"/>
              </a:rPr>
              <a:t>. Analytics Insight. https://</a:t>
            </a:r>
            <a:r>
              <a:rPr lang="en-US" sz="1200" dirty="0" err="1">
                <a:effectLst/>
                <a:latin typeface="Times New Roman" panose="02020603050405020304" pitchFamily="18" charset="0"/>
                <a:cs typeface="Times New Roman" panose="02020603050405020304" pitchFamily="18" charset="0"/>
              </a:rPr>
              <a:t>www.analyticsinsight.net</a:t>
            </a:r>
            <a:r>
              <a:rPr lang="en-US" sz="1200" dirty="0">
                <a:effectLst/>
                <a:latin typeface="Times New Roman" panose="02020603050405020304" pitchFamily="18" charset="0"/>
                <a:cs typeface="Times New Roman" panose="02020603050405020304" pitchFamily="18" charset="0"/>
              </a:rPr>
              <a:t>/data-analytics-and-stock-trading-how-to-use-data-science-in-stock-market-analysis/ </a:t>
            </a:r>
            <a:endParaRPr lang="en-US" sz="1200" dirty="0">
              <a:effectLst/>
              <a:latin typeface="Times New Roman" panose="02020603050405020304" pitchFamily="18" charset="0"/>
              <a:cs typeface="Times New Roman" panose="02020603050405020304" pitchFamily="18" charset="0"/>
            </a:endParaRPr>
          </a:p>
          <a:p>
            <a:pPr marL="114300" indent="0">
              <a:lnSpc>
                <a:spcPct val="115000"/>
              </a:lnSpc>
              <a:spcBef>
                <a:spcPts val="400"/>
              </a:spcBef>
              <a:spcAft>
                <a:spcPts val="400"/>
              </a:spcAft>
              <a:buNone/>
            </a:pPr>
            <a:endParaRPr lang="en-US" sz="1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114300" indent="0" algn="ctr">
              <a:buNone/>
            </a:pPr>
            <a:r>
              <a:rPr lang="en-US" sz="6000" dirty="0">
                <a:latin typeface="Times New Roman" panose="02020603050405020304" pitchFamily="18" charset="0"/>
                <a:cs typeface="Times New Roman" panose="02020603050405020304" pitchFamily="18" charset="0"/>
              </a:rPr>
              <a:t>THANK YOU</a:t>
            </a:r>
            <a:endParaRPr lang="en-US" sz="6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fld>
            <a:endParaRPr lang="en-GB"/>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7177</Words>
  <Application>WPS Presentation</Application>
  <PresentationFormat>On-screen Show (16:9)</PresentationFormat>
  <Paragraphs>146</Paragraphs>
  <Slides>15</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Arial</vt:lpstr>
      <vt:lpstr>Roboto Black</vt:lpstr>
      <vt:lpstr>Roboto</vt:lpstr>
      <vt:lpstr>Times New Roman</vt:lpstr>
      <vt:lpstr>Calibri</vt:lpstr>
      <vt:lpstr>Söhne</vt:lpstr>
      <vt:lpstr>Segoe Print</vt:lpstr>
      <vt:lpstr>Microsoft YaHei</vt:lpstr>
      <vt:lpstr>Arial Unicode MS</vt:lpstr>
      <vt:lpstr>Simple Light</vt:lpstr>
      <vt:lpstr>PowerPoint 演示文稿</vt:lpstr>
      <vt:lpstr> Introduction:</vt:lpstr>
      <vt:lpstr>Project Objectives</vt:lpstr>
      <vt:lpstr>Data Sources and Collection:</vt:lpstr>
      <vt:lpstr>Tools and Technologies used:</vt:lpstr>
      <vt:lpstr>PowerPoint 演示文稿</vt:lpstr>
      <vt:lpstr>Sector wise  Performance</vt:lpstr>
      <vt:lpstr>PowerPoint 演示文稿</vt:lpstr>
      <vt:lpstr>PowerPoint 演示文稿</vt:lpstr>
      <vt:lpstr>PowerPoint 演示文稿</vt:lpstr>
      <vt:lpstr>Insights and Report</vt:lpstr>
      <vt:lpstr>Challenges</vt:lpstr>
      <vt:lpstr>Future Opportunities: </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almas</cp:lastModifiedBy>
  <cp:revision>43</cp:revision>
  <dcterms:created xsi:type="dcterms:W3CDTF">2023-09-27T22:02:00Z</dcterms:created>
  <dcterms:modified xsi:type="dcterms:W3CDTF">2023-12-07T02:08:29Z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50F137DF515D4E738908D9F42AD08CCC_13</vt:lpwstr>
  </property>
  <property fmtid="{D5CDD505-2E9C-101B-9397-08002B2CF9AE}" pid="3" name="KSOProductBuildVer">
    <vt:lpwstr>1033-12.2.0.13306</vt:lpwstr>
  </property>
</Properties>
</file>